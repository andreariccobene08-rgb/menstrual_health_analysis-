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Roboto Bold" charset="1" panose="02000000000000000000"/>
      <p:regular r:id="rId26"/>
    </p:embeddedFont>
    <p:embeddedFont>
      <p:font typeface="Roboto" charset="1" panose="020000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Masters/notesMaster1.xml" Type="http://schemas.openxmlformats.org/officeDocument/2006/relationships/notesMaster"/><Relationship Id="rId29" Target="theme/theme2.xml" Type="http://schemas.openxmlformats.org/officeDocument/2006/relationships/theme"/><Relationship Id="rId3" Target="viewProps.xml" Type="http://schemas.openxmlformats.org/officeDocument/2006/relationships/viewProps"/><Relationship Id="rId30" Target="notesSlides/notesSlide1.xml" Type="http://schemas.openxmlformats.org/officeDocument/2006/relationships/notesSlide"/><Relationship Id="rId31" Target="notesSlides/notesSlide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classificazione cicli per utente: Abbiamo quindi diviso i cicli seguendo una logica puramente deterministica:</a:t>
            </a:r>
          </a:p>
          <a:p>
            <a:r>
              <a:rPr lang="en-US"/>
              <a:t/>
            </a:r>
          </a:p>
          <a:p>
            <a:r>
              <a:rPr lang="en-US"/>
              <a:t>Ciclo Anomalo / Consiglia Visita (1) 🔴: È un ciclo in cui l'utente ha registrato un dolore insostenibile (maggiore o uguale a 7 su scala 1-10) OPPURE in cui la durata di quel ciclo ha subito uno sbalzo violento (pari o superiore a 6 giorni) rispetto alla sua media storica personale calcolata fino a quel momento.</a:t>
            </a:r>
          </a:p>
          <a:p>
            <a:r>
              <a:rPr lang="en-US"/>
              <a:t>Ciclo Standard (0) 🟢: È un ciclo che è rimasto sotto entrambe le soglie di pericolo (dolore gestibile e durata in linea con il passato dell'utente).</a:t>
            </a:r>
          </a:p>
          <a:p>
            <a:r>
              <a:rPr lang="en-US"/>
              <a:t/>
            </a:r>
          </a:p>
          <a:p>
            <a:r>
              <a:rPr lang="en-US"/>
              <a:t>Il dolore severo è un sintomo cronico e pervasivo in questa popolazione. Isolarlo come unico fattore di allarme avrebbe saturato l'applicazione di notifiche (73% di falsi positivi sistemici). È stato biologicamente necessario intersecare il dolore con l'instabilità temporale (Grafico 1) per isolare la vera anomalia acuta.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 Prevenzione del Leakage &amp; Split dei DatiSplit per Utente: I dati sono divisi rigorosamente in base all'identificativo utente (user_id). Il modello non si addestra e testa mai sulle stesse persone.Ingegnerizzazione Temporale (Lag): Il modello predice il futuro usando solo il passato. Per calcolare le feature del mese corrente, utilizza esclusivamente i dati dei cicli precedenti, nello specifico il Lag 1 (il mese scorso) e il Lag 2 (due mesi fa).2. Le Feature Ingegnerizzate (Campi Engineered)Invece di usare i valori assoluti (che variano da donna a donna), il modello calcola la media storica cumulativa di ogni utente (expanding().mean()) e analizza i Delta (le deviazioni dalla propria normalità):delta_cycle_length (Lag 1 &amp; 2): Quanto la durata del ciclo dell'ultimo mese si è discostata dalla media storica dell'utente.delta_headache_intensity (Lag 1 &amp; 2): Lo scostamento dell'intensità del mal di testa rispetto alla baseline personale.delta_sleep_hours (Lag 1 &amp; 2): La variazione delle ore di sonno rispetto alla media dell'utente.📊 Cosa dicono i Dati (Risultati dei Test Statistici)I test d'ipotesi hanno convalidato scientificamente quali parametri sono veri predittori e quali sono solo "rumore":La Durata del Ciclo è il premonitore principale: Il test T di Student mostra una significatività schiacciante ($P \approx 1.34 \times 10^{-8}$). Se la durata del ciclo sballa nel Lag 1, è un fortissimo indicatore di anomalie in arrivo.Il Mal di Testa accumula l'effetto: Anche l'intensità della cefalea nel mese precedente ha un altissimo valore predittivo ($P \approx 9.95 \times 10^{-7}$).L'inganno del Sonno: Il sonno ha una forte correlazione negativa corrente ($r = -0.498$), il che significa che le utenti dormono male mentre stanno già male. Tuttavia, il delta_sleep del mese precedente non ha potere predittivo per il mese successivo ($P \approx 0.836$).🏆 Performance del ModelloGrazie all'ottima strutturazione dei Delta, il modello LightGBM ha raggiunto metriche eccezionali sul dataset di test:Accuracy (Accuratezza globale): 91.84% di predizioni corrette.ROC-AUC Score: 0.995. Un punteggio quasi perfetto che indica una straordinaria capacità del modello di separare nettamente le utenti sane da quelle a rischio anomalia.⚠️ Nota sul Dataset: Il modello è estremamente preciso anche perché il dataset presenta una forte prevalenza di casi di dolore severo (il 73.7% delle utenti ha un dolore $\ge 7$). Il modello ha quindi "imparato" con estrema precisione a riconoscere il pattern di queste utenti.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2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0.png" Type="http://schemas.openxmlformats.org/officeDocument/2006/relationships/image"/><Relationship Id="rId4" Target="../media/image31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2.png" Type="http://schemas.openxmlformats.org/officeDocument/2006/relationships/image"/><Relationship Id="rId4" Target="../media/image33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1711" t="-2752" r="-12482" b="-269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09700" y="5999814"/>
            <a:ext cx="7964932" cy="919445"/>
            <a:chOff x="0" y="0"/>
            <a:chExt cx="2590997" cy="29909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90997" cy="299096"/>
            </a:xfrm>
            <a:custGeom>
              <a:avLst/>
              <a:gdLst/>
              <a:ahLst/>
              <a:cxnLst/>
              <a:rect r="r" b="b" t="t" l="l"/>
              <a:pathLst>
                <a:path h="299096" w="2590997">
                  <a:moveTo>
                    <a:pt x="69012" y="0"/>
                  </a:moveTo>
                  <a:lnTo>
                    <a:pt x="2521985" y="0"/>
                  </a:lnTo>
                  <a:cubicBezTo>
                    <a:pt x="2560099" y="0"/>
                    <a:pt x="2590997" y="30898"/>
                    <a:pt x="2590997" y="69012"/>
                  </a:cubicBezTo>
                  <a:lnTo>
                    <a:pt x="2590997" y="230084"/>
                  </a:lnTo>
                  <a:cubicBezTo>
                    <a:pt x="2590997" y="268198"/>
                    <a:pt x="2560099" y="299096"/>
                    <a:pt x="2521985" y="299096"/>
                  </a:cubicBezTo>
                  <a:lnTo>
                    <a:pt x="69012" y="299096"/>
                  </a:lnTo>
                  <a:cubicBezTo>
                    <a:pt x="30898" y="299096"/>
                    <a:pt x="0" y="268198"/>
                    <a:pt x="0" y="230084"/>
                  </a:cubicBezTo>
                  <a:lnTo>
                    <a:pt x="0" y="69012"/>
                  </a:lnTo>
                  <a:cubicBezTo>
                    <a:pt x="0" y="30898"/>
                    <a:pt x="30898" y="0"/>
                    <a:pt x="69012" y="0"/>
                  </a:cubicBezTo>
                  <a:close/>
                </a:path>
              </a:pathLst>
            </a:custGeom>
            <a:solidFill>
              <a:srgbClr val="FFFAF3"/>
            </a:solidFill>
            <a:ln w="9525" cap="rnd">
              <a:solidFill>
                <a:srgbClr val="0097B2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590997" cy="318146"/>
            </a:xfrm>
            <a:prstGeom prst="rect">
              <a:avLst/>
            </a:prstGeom>
          </p:spPr>
          <p:txBody>
            <a:bodyPr anchor="ctr" rtlCol="false" tIns="24207" lIns="24207" bIns="24207" rIns="24207"/>
            <a:lstStyle/>
            <a:p>
              <a:pPr algn="l">
                <a:lnSpc>
                  <a:spcPts val="1267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409700" y="2438922"/>
            <a:ext cx="9679751" cy="2422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199"/>
              </a:lnSpc>
            </a:pPr>
            <a:r>
              <a:rPr lang="en-US" b="true" sz="9999" spc="-249">
                <a:solidFill>
                  <a:srgbClr val="FFFAF3"/>
                </a:solidFill>
                <a:latin typeface="Roboto Bold"/>
                <a:ea typeface="Roboto Bold"/>
                <a:cs typeface="Roboto Bold"/>
                <a:sym typeface="Roboto Bold"/>
              </a:rPr>
              <a:t>Menstual health data analytics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1787791" y="547615"/>
            <a:ext cx="9108208" cy="9191770"/>
          </a:xfrm>
          <a:custGeom>
            <a:avLst/>
            <a:gdLst/>
            <a:ahLst/>
            <a:cxnLst/>
            <a:rect r="r" b="b" t="t" l="l"/>
            <a:pathLst>
              <a:path h="9191770" w="9108208">
                <a:moveTo>
                  <a:pt x="0" y="0"/>
                </a:moveTo>
                <a:lnTo>
                  <a:pt x="9108208" y="0"/>
                </a:lnTo>
                <a:lnTo>
                  <a:pt x="9108208" y="9191770"/>
                </a:lnTo>
                <a:lnTo>
                  <a:pt x="0" y="91917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09700" y="1028700"/>
            <a:ext cx="686575" cy="686575"/>
          </a:xfrm>
          <a:custGeom>
            <a:avLst/>
            <a:gdLst/>
            <a:ahLst/>
            <a:cxnLst/>
            <a:rect r="r" b="b" t="t" l="l"/>
            <a:pathLst>
              <a:path h="686575" w="686575">
                <a:moveTo>
                  <a:pt x="0" y="0"/>
                </a:moveTo>
                <a:lnTo>
                  <a:pt x="686575" y="0"/>
                </a:lnTo>
                <a:lnTo>
                  <a:pt x="686575" y="686575"/>
                </a:lnTo>
                <a:lnTo>
                  <a:pt x="0" y="6865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1833991" y="6254685"/>
            <a:ext cx="7116350" cy="419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4"/>
              </a:lnSpc>
            </a:pPr>
            <a:r>
              <a:rPr lang="en-US" b="true" sz="2825" spc="-22">
                <a:solidFill>
                  <a:srgbClr val="C65485"/>
                </a:solidFill>
                <a:latin typeface="Roboto Bold"/>
                <a:ea typeface="Roboto Bold"/>
                <a:cs typeface="Roboto Bold"/>
                <a:sym typeface="Roboto Bold"/>
              </a:rPr>
              <a:t>Soluzione Data Driven per Kaira Engineering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09700" y="8735949"/>
            <a:ext cx="7116350" cy="1027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b="true" sz="3600" spc="-28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Accarino Luca, Mateusz Logoteta, Riccobene Andrea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09700" y="8067153"/>
            <a:ext cx="7116350" cy="419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4"/>
              </a:lnSpc>
            </a:pPr>
            <a:r>
              <a:rPr lang="en-US" sz="2825" spc="-22" b="true">
                <a:solidFill>
                  <a:srgbClr val="C65485"/>
                </a:solidFill>
                <a:latin typeface="Roboto Bold"/>
                <a:ea typeface="Roboto Bold"/>
                <a:cs typeface="Roboto Bold"/>
                <a:sym typeface="Roboto Bold"/>
              </a:rPr>
              <a:t>Gruppo 2 - 13/07/2026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1711" t="-2752" r="-12482" b="-269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-192576" y="4112734"/>
            <a:ext cx="6366843" cy="3924290"/>
          </a:xfrm>
          <a:custGeom>
            <a:avLst/>
            <a:gdLst/>
            <a:ahLst/>
            <a:cxnLst/>
            <a:rect r="r" b="b" t="t" l="l"/>
            <a:pathLst>
              <a:path h="3924290" w="6366843">
                <a:moveTo>
                  <a:pt x="0" y="0"/>
                </a:moveTo>
                <a:lnTo>
                  <a:pt x="6366842" y="0"/>
                </a:lnTo>
                <a:lnTo>
                  <a:pt x="6366842" y="3924290"/>
                </a:lnTo>
                <a:lnTo>
                  <a:pt x="0" y="39242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3813206" y="743425"/>
            <a:ext cx="10661588" cy="968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52"/>
              </a:lnSpc>
            </a:pPr>
            <a:r>
              <a:rPr lang="en-US" b="true" sz="6400" spc="-5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 Executive Summary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5400000">
            <a:off x="3910340" y="4112734"/>
            <a:ext cx="6366843" cy="3924290"/>
          </a:xfrm>
          <a:custGeom>
            <a:avLst/>
            <a:gdLst/>
            <a:ahLst/>
            <a:cxnLst/>
            <a:rect r="r" b="b" t="t" l="l"/>
            <a:pathLst>
              <a:path h="3924290" w="6366843">
                <a:moveTo>
                  <a:pt x="0" y="0"/>
                </a:moveTo>
                <a:lnTo>
                  <a:pt x="6366843" y="0"/>
                </a:lnTo>
                <a:lnTo>
                  <a:pt x="6366843" y="3924290"/>
                </a:lnTo>
                <a:lnTo>
                  <a:pt x="0" y="39242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-5400000">
            <a:off x="-192576" y="4112734"/>
            <a:ext cx="6366843" cy="3924290"/>
          </a:xfrm>
          <a:custGeom>
            <a:avLst/>
            <a:gdLst/>
            <a:ahLst/>
            <a:cxnLst/>
            <a:rect r="r" b="b" t="t" l="l"/>
            <a:pathLst>
              <a:path h="3924290" w="6366843">
                <a:moveTo>
                  <a:pt x="0" y="0"/>
                </a:moveTo>
                <a:lnTo>
                  <a:pt x="6366842" y="0"/>
                </a:lnTo>
                <a:lnTo>
                  <a:pt x="6366842" y="3924290"/>
                </a:lnTo>
                <a:lnTo>
                  <a:pt x="0" y="39242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1415126" y="4817427"/>
            <a:ext cx="3151438" cy="484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30"/>
              </a:lnSpc>
            </a:pPr>
            <a:r>
              <a:rPr lang="en-US" b="true" sz="316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Problema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21989" y="5675678"/>
            <a:ext cx="2933353" cy="937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9"/>
              </a:lnSpc>
            </a:pPr>
            <a:r>
              <a:rPr lang="en-US" b="true" sz="1697" spc="-8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Trasformare una semplice app di tracciamento in uno strumento clinico-preventivo.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553326" y="4822252"/>
            <a:ext cx="3080871" cy="474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2"/>
              </a:lnSpc>
            </a:pPr>
            <a:r>
              <a:rPr lang="en-US" b="true" sz="3112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Appr</a:t>
            </a:r>
            <a:r>
              <a:rPr lang="en-US" b="true" sz="3112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occio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624905" y="5675678"/>
            <a:ext cx="2937713" cy="1251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2"/>
              </a:lnSpc>
            </a:pPr>
            <a:r>
              <a:rPr lang="en-US" b="true" sz="1699" spc="-8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Machine Learning differenziato (fisiologia naturale vs. contraccettivi).</a:t>
            </a:r>
          </a:p>
          <a:p>
            <a:pPr algn="ctr">
              <a:lnSpc>
                <a:spcPts val="2532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-5400000">
            <a:off x="8015605" y="4112734"/>
            <a:ext cx="6366843" cy="3924290"/>
          </a:xfrm>
          <a:custGeom>
            <a:avLst/>
            <a:gdLst/>
            <a:ahLst/>
            <a:cxnLst/>
            <a:rect r="r" b="b" t="t" l="l"/>
            <a:pathLst>
              <a:path h="3924290" w="6366843">
                <a:moveTo>
                  <a:pt x="0" y="0"/>
                </a:moveTo>
                <a:lnTo>
                  <a:pt x="6366843" y="0"/>
                </a:lnTo>
                <a:lnTo>
                  <a:pt x="6366843" y="3924290"/>
                </a:lnTo>
                <a:lnTo>
                  <a:pt x="0" y="39242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9776201" y="4822252"/>
            <a:ext cx="2845651" cy="474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2"/>
              </a:lnSpc>
            </a:pPr>
            <a:r>
              <a:rPr lang="en-US" b="true" sz="3112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Ris</a:t>
            </a:r>
            <a:r>
              <a:rPr lang="en-US" b="true" sz="3112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ultati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30170" y="5675678"/>
            <a:ext cx="2937713" cy="1566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2"/>
              </a:lnSpc>
            </a:pPr>
            <a:r>
              <a:rPr lang="en-US" b="true" sz="1699" spc="-8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Sviluppo di 3 modelli principali (Previsione Ciclo, Finestra Fertile, Indice di Salute/Anomalie).</a:t>
            </a:r>
          </a:p>
          <a:p>
            <a:pPr algn="ctr">
              <a:lnSpc>
                <a:spcPts val="2532"/>
              </a:lnSpc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-5400000">
            <a:off x="12120871" y="4112734"/>
            <a:ext cx="6366843" cy="3924290"/>
          </a:xfrm>
          <a:custGeom>
            <a:avLst/>
            <a:gdLst/>
            <a:ahLst/>
            <a:cxnLst/>
            <a:rect r="r" b="b" t="t" l="l"/>
            <a:pathLst>
              <a:path h="3924290" w="6366843">
                <a:moveTo>
                  <a:pt x="0" y="0"/>
                </a:moveTo>
                <a:lnTo>
                  <a:pt x="6366842" y="0"/>
                </a:lnTo>
                <a:lnTo>
                  <a:pt x="6366842" y="3924290"/>
                </a:lnTo>
                <a:lnTo>
                  <a:pt x="0" y="39242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5" id="15"/>
          <p:cNvSpPr txBox="true"/>
          <p:nvPr/>
        </p:nvSpPr>
        <p:spPr>
          <a:xfrm rot="0">
            <a:off x="14050454" y="4822252"/>
            <a:ext cx="2507676" cy="474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2"/>
              </a:lnSpc>
            </a:pPr>
            <a:r>
              <a:rPr lang="en-US" b="true" sz="3112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V</a:t>
            </a:r>
            <a:r>
              <a:rPr lang="en-US" b="true" sz="3112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alore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835435" y="5675678"/>
            <a:ext cx="2937713" cy="1251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2"/>
              </a:lnSpc>
            </a:pPr>
            <a:r>
              <a:rPr lang="en-US" b="true" sz="1699" spc="-8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</a:t>
            </a:r>
            <a:r>
              <a:rPr lang="en-US" b="true" sz="1699" spc="-8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assaggio da un approccio "passivo" ad app "attivo" (supporto decisionale).</a:t>
            </a:r>
          </a:p>
          <a:p>
            <a:pPr algn="ctr">
              <a:lnSpc>
                <a:spcPts val="2532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1711" t="-2752" r="-12482" b="-269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68071" y="1028700"/>
            <a:ext cx="13351858" cy="8229600"/>
          </a:xfrm>
          <a:custGeom>
            <a:avLst/>
            <a:gdLst/>
            <a:ahLst/>
            <a:cxnLst/>
            <a:rect r="r" b="b" t="t" l="l"/>
            <a:pathLst>
              <a:path h="8229600" w="13351858">
                <a:moveTo>
                  <a:pt x="0" y="0"/>
                </a:moveTo>
                <a:lnTo>
                  <a:pt x="13351858" y="0"/>
                </a:lnTo>
                <a:lnTo>
                  <a:pt x="1335185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7616096" y="6711520"/>
            <a:ext cx="3055808" cy="2546780"/>
          </a:xfrm>
          <a:custGeom>
            <a:avLst/>
            <a:gdLst/>
            <a:ahLst/>
            <a:cxnLst/>
            <a:rect r="r" b="b" t="t" l="l"/>
            <a:pathLst>
              <a:path h="2546780" w="3055808">
                <a:moveTo>
                  <a:pt x="0" y="0"/>
                </a:moveTo>
                <a:lnTo>
                  <a:pt x="3055808" y="0"/>
                </a:lnTo>
                <a:lnTo>
                  <a:pt x="3055808" y="2546780"/>
                </a:lnTo>
                <a:lnTo>
                  <a:pt x="0" y="25467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1622" t="-14570" r="-30856" b="-2879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66398" y="3406878"/>
            <a:ext cx="8155204" cy="81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b="true" sz="6000" spc="-48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Il problema di business: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55328" y="4969068"/>
            <a:ext cx="9577343" cy="1682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20"/>
              </a:lnSpc>
            </a:pPr>
            <a:r>
              <a:rPr lang="en-US" sz="2371" spc="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Ka</a:t>
            </a:r>
            <a:r>
              <a:rPr lang="en-US" sz="2371" spc="7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ira raccoglie dati grezzi, ma l'utente medio non sa interpretarli. L'obiettivo è generare </a:t>
            </a:r>
            <a:r>
              <a:rPr lang="en-US" b="true" sz="2371" spc="7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conoscenza </a:t>
            </a:r>
            <a:r>
              <a:rPr lang="en-US" sz="2371" spc="7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(capire il proprio corpo), </a:t>
            </a:r>
            <a:r>
              <a:rPr lang="en-US" b="true" sz="2371" spc="7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personalizzazione </a:t>
            </a:r>
            <a:r>
              <a:rPr lang="en-US" sz="2371" spc="7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(modelli ad personam), </a:t>
            </a:r>
            <a:r>
              <a:rPr lang="en-US" b="true" sz="2371" spc="7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prevenzione </a:t>
            </a:r>
            <a:r>
              <a:rPr lang="en-US" sz="2371" spc="7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(intercettare anomalie) e </a:t>
            </a:r>
            <a:r>
              <a:rPr lang="en-US" b="true" sz="2371" spc="7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supporto decisionale</a:t>
            </a:r>
            <a:r>
              <a:rPr lang="en-US" sz="2371" spc="7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1711" t="-2752" r="-12482" b="-269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737725" y="1755584"/>
            <a:ext cx="7264536" cy="6775831"/>
          </a:xfrm>
          <a:custGeom>
            <a:avLst/>
            <a:gdLst/>
            <a:ahLst/>
            <a:cxnLst/>
            <a:rect r="r" b="b" t="t" l="l"/>
            <a:pathLst>
              <a:path h="6775831" w="7264536">
                <a:moveTo>
                  <a:pt x="0" y="0"/>
                </a:moveTo>
                <a:lnTo>
                  <a:pt x="7264536" y="0"/>
                </a:lnTo>
                <a:lnTo>
                  <a:pt x="7264536" y="6775832"/>
                </a:lnTo>
                <a:lnTo>
                  <a:pt x="0" y="67758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690151" y="6211402"/>
            <a:ext cx="11130220" cy="3046898"/>
          </a:xfrm>
          <a:custGeom>
            <a:avLst/>
            <a:gdLst/>
            <a:ahLst/>
            <a:cxnLst/>
            <a:rect r="r" b="b" t="t" l="l"/>
            <a:pathLst>
              <a:path h="3046898" w="11130220">
                <a:moveTo>
                  <a:pt x="0" y="0"/>
                </a:moveTo>
                <a:lnTo>
                  <a:pt x="11130220" y="0"/>
                </a:lnTo>
                <a:lnTo>
                  <a:pt x="11130220" y="3046898"/>
                </a:lnTo>
                <a:lnTo>
                  <a:pt x="0" y="30468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77659" y="1452196"/>
            <a:ext cx="8155204" cy="1466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b="true" sz="5600" spc="-4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Comprensione del Dataset e Scelte Logiche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77659" y="3627707"/>
            <a:ext cx="8076790" cy="2111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</a:pPr>
            <a:r>
              <a:rPr lang="en-US" b="true" sz="1999" spc="5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Si presenta una coesistenza di due popolazioni: a</a:t>
            </a:r>
            <a:r>
              <a:rPr lang="en-US" b="true" sz="1999" spc="5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bbiamo utenti con ciclo naturale e utenti con contraccettivo. </a:t>
            </a:r>
          </a:p>
          <a:p>
            <a:pPr algn="l" marL="0" indent="0" lvl="0">
              <a:lnSpc>
                <a:spcPts val="2799"/>
              </a:lnSpc>
            </a:pPr>
            <a:r>
              <a:rPr lang="en-US" b="true" sz="1999" spc="5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Invece di dividere il dataset riducendo i dati, abbiamo scelto di mantenerlo unito, gestendo la pulizia dei dati (NAs) calcolando la mediana specifica per ogni singolo utente, evitando così di mischiare i sintomi tra chi prende la pillola e chi no.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77659" y="3036308"/>
            <a:ext cx="807679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</a:pPr>
            <a:r>
              <a:rPr lang="en-US" sz="1999" spc="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Dati base: 50 utenti, ~9000 osservazioni giornaliere.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1711" t="-2752" r="-12482" b="-269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617354" y="568777"/>
            <a:ext cx="5581682" cy="3492743"/>
            <a:chOff x="0" y="0"/>
            <a:chExt cx="1403299" cy="87811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03299" cy="878116"/>
            </a:xfrm>
            <a:custGeom>
              <a:avLst/>
              <a:gdLst/>
              <a:ahLst/>
              <a:cxnLst/>
              <a:rect r="r" b="b" t="t" l="l"/>
              <a:pathLst>
                <a:path h="878116" w="1403299">
                  <a:moveTo>
                    <a:pt x="58255" y="0"/>
                  </a:moveTo>
                  <a:lnTo>
                    <a:pt x="1345044" y="0"/>
                  </a:lnTo>
                  <a:cubicBezTo>
                    <a:pt x="1360494" y="0"/>
                    <a:pt x="1375312" y="6138"/>
                    <a:pt x="1386237" y="17062"/>
                  </a:cubicBezTo>
                  <a:cubicBezTo>
                    <a:pt x="1397162" y="27987"/>
                    <a:pt x="1403299" y="42805"/>
                    <a:pt x="1403299" y="58255"/>
                  </a:cubicBezTo>
                  <a:lnTo>
                    <a:pt x="1403299" y="819861"/>
                  </a:lnTo>
                  <a:cubicBezTo>
                    <a:pt x="1403299" y="852034"/>
                    <a:pt x="1377218" y="878116"/>
                    <a:pt x="1345044" y="878116"/>
                  </a:cubicBezTo>
                  <a:lnTo>
                    <a:pt x="58255" y="878116"/>
                  </a:lnTo>
                  <a:cubicBezTo>
                    <a:pt x="26082" y="878116"/>
                    <a:pt x="0" y="852034"/>
                    <a:pt x="0" y="819861"/>
                  </a:cubicBezTo>
                  <a:lnTo>
                    <a:pt x="0" y="58255"/>
                  </a:lnTo>
                  <a:cubicBezTo>
                    <a:pt x="0" y="26082"/>
                    <a:pt x="26082" y="0"/>
                    <a:pt x="58255" y="0"/>
                  </a:cubicBezTo>
                  <a:close/>
                </a:path>
              </a:pathLst>
            </a:custGeom>
            <a:solidFill>
              <a:srgbClr val="0097B2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403299" cy="887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531190" y="568777"/>
            <a:ext cx="4510687" cy="3492743"/>
            <a:chOff x="0" y="0"/>
            <a:chExt cx="1134039" cy="8781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34039" cy="878116"/>
            </a:xfrm>
            <a:custGeom>
              <a:avLst/>
              <a:gdLst/>
              <a:ahLst/>
              <a:cxnLst/>
              <a:rect r="r" b="b" t="t" l="l"/>
              <a:pathLst>
                <a:path h="878116" w="1134039">
                  <a:moveTo>
                    <a:pt x="72087" y="0"/>
                  </a:moveTo>
                  <a:lnTo>
                    <a:pt x="1061952" y="0"/>
                  </a:lnTo>
                  <a:cubicBezTo>
                    <a:pt x="1081070" y="0"/>
                    <a:pt x="1099406" y="7595"/>
                    <a:pt x="1112925" y="21114"/>
                  </a:cubicBezTo>
                  <a:cubicBezTo>
                    <a:pt x="1126444" y="34633"/>
                    <a:pt x="1134039" y="52968"/>
                    <a:pt x="1134039" y="72087"/>
                  </a:cubicBezTo>
                  <a:lnTo>
                    <a:pt x="1134039" y="806029"/>
                  </a:lnTo>
                  <a:cubicBezTo>
                    <a:pt x="1134039" y="845841"/>
                    <a:pt x="1101764" y="878116"/>
                    <a:pt x="1061952" y="878116"/>
                  </a:cubicBezTo>
                  <a:lnTo>
                    <a:pt x="72087" y="878116"/>
                  </a:lnTo>
                  <a:cubicBezTo>
                    <a:pt x="52968" y="878116"/>
                    <a:pt x="34633" y="870521"/>
                    <a:pt x="21114" y="857002"/>
                  </a:cubicBezTo>
                  <a:cubicBezTo>
                    <a:pt x="7595" y="843483"/>
                    <a:pt x="0" y="825148"/>
                    <a:pt x="0" y="806029"/>
                  </a:cubicBezTo>
                  <a:lnTo>
                    <a:pt x="0" y="72087"/>
                  </a:lnTo>
                  <a:cubicBezTo>
                    <a:pt x="0" y="52968"/>
                    <a:pt x="7595" y="34633"/>
                    <a:pt x="21114" y="21114"/>
                  </a:cubicBezTo>
                  <a:cubicBezTo>
                    <a:pt x="34633" y="7595"/>
                    <a:pt x="52968" y="0"/>
                    <a:pt x="72087" y="0"/>
                  </a:cubicBezTo>
                  <a:close/>
                </a:path>
              </a:pathLst>
            </a:custGeom>
            <a:solidFill>
              <a:srgbClr val="0097B2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134039" cy="887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614665" y="4338107"/>
            <a:ext cx="5581682" cy="2654074"/>
            <a:chOff x="0" y="0"/>
            <a:chExt cx="1403299" cy="6672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03299" cy="667265"/>
            </a:xfrm>
            <a:custGeom>
              <a:avLst/>
              <a:gdLst/>
              <a:ahLst/>
              <a:cxnLst/>
              <a:rect r="r" b="b" t="t" l="l"/>
              <a:pathLst>
                <a:path h="667265" w="1403299">
                  <a:moveTo>
                    <a:pt x="58255" y="0"/>
                  </a:moveTo>
                  <a:lnTo>
                    <a:pt x="1345044" y="0"/>
                  </a:lnTo>
                  <a:cubicBezTo>
                    <a:pt x="1360494" y="0"/>
                    <a:pt x="1375312" y="6138"/>
                    <a:pt x="1386237" y="17062"/>
                  </a:cubicBezTo>
                  <a:cubicBezTo>
                    <a:pt x="1397162" y="27987"/>
                    <a:pt x="1403299" y="42805"/>
                    <a:pt x="1403299" y="58255"/>
                  </a:cubicBezTo>
                  <a:lnTo>
                    <a:pt x="1403299" y="609010"/>
                  </a:lnTo>
                  <a:cubicBezTo>
                    <a:pt x="1403299" y="641183"/>
                    <a:pt x="1377218" y="667265"/>
                    <a:pt x="1345044" y="667265"/>
                  </a:cubicBezTo>
                  <a:lnTo>
                    <a:pt x="58255" y="667265"/>
                  </a:lnTo>
                  <a:cubicBezTo>
                    <a:pt x="26082" y="667265"/>
                    <a:pt x="0" y="641183"/>
                    <a:pt x="0" y="609010"/>
                  </a:cubicBezTo>
                  <a:lnTo>
                    <a:pt x="0" y="58255"/>
                  </a:lnTo>
                  <a:cubicBezTo>
                    <a:pt x="0" y="26082"/>
                    <a:pt x="26082" y="0"/>
                    <a:pt x="58255" y="0"/>
                  </a:cubicBezTo>
                  <a:close/>
                </a:path>
              </a:pathLst>
            </a:custGeom>
            <a:solidFill>
              <a:srgbClr val="0097B2"/>
            </a:soli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403299" cy="6767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756793" y="7240525"/>
            <a:ext cx="9297427" cy="2935016"/>
            <a:chOff x="0" y="0"/>
            <a:chExt cx="2337480" cy="7378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37480" cy="737897"/>
            </a:xfrm>
            <a:custGeom>
              <a:avLst/>
              <a:gdLst/>
              <a:ahLst/>
              <a:cxnLst/>
              <a:rect r="r" b="b" t="t" l="l"/>
              <a:pathLst>
                <a:path h="737897" w="2337480">
                  <a:moveTo>
                    <a:pt x="34973" y="0"/>
                  </a:moveTo>
                  <a:lnTo>
                    <a:pt x="2302507" y="0"/>
                  </a:lnTo>
                  <a:cubicBezTo>
                    <a:pt x="2321822" y="0"/>
                    <a:pt x="2337480" y="15658"/>
                    <a:pt x="2337480" y="34973"/>
                  </a:cubicBezTo>
                  <a:lnTo>
                    <a:pt x="2337480" y="702924"/>
                  </a:lnTo>
                  <a:cubicBezTo>
                    <a:pt x="2337480" y="712199"/>
                    <a:pt x="2333796" y="721095"/>
                    <a:pt x="2327237" y="727654"/>
                  </a:cubicBezTo>
                  <a:cubicBezTo>
                    <a:pt x="2320678" y="734212"/>
                    <a:pt x="2311783" y="737897"/>
                    <a:pt x="2302507" y="737897"/>
                  </a:cubicBezTo>
                  <a:lnTo>
                    <a:pt x="34973" y="737897"/>
                  </a:lnTo>
                  <a:cubicBezTo>
                    <a:pt x="15658" y="737897"/>
                    <a:pt x="0" y="722239"/>
                    <a:pt x="0" y="702924"/>
                  </a:cubicBezTo>
                  <a:lnTo>
                    <a:pt x="0" y="34973"/>
                  </a:lnTo>
                  <a:cubicBezTo>
                    <a:pt x="0" y="15658"/>
                    <a:pt x="15658" y="0"/>
                    <a:pt x="34973" y="0"/>
                  </a:cubicBezTo>
                  <a:close/>
                </a:path>
              </a:pathLst>
            </a:custGeom>
            <a:solidFill>
              <a:srgbClr val="0097B2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337480" cy="747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7853321" y="1148398"/>
            <a:ext cx="5109748" cy="2430750"/>
          </a:xfrm>
          <a:custGeom>
            <a:avLst/>
            <a:gdLst/>
            <a:ahLst/>
            <a:cxnLst/>
            <a:rect r="r" b="b" t="t" l="l"/>
            <a:pathLst>
              <a:path h="2430750" w="5109748">
                <a:moveTo>
                  <a:pt x="0" y="0"/>
                </a:moveTo>
                <a:lnTo>
                  <a:pt x="5109748" y="0"/>
                </a:lnTo>
                <a:lnTo>
                  <a:pt x="5109748" y="2430750"/>
                </a:lnTo>
                <a:lnTo>
                  <a:pt x="0" y="2430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850633" y="4820951"/>
            <a:ext cx="5109748" cy="1933106"/>
          </a:xfrm>
          <a:custGeom>
            <a:avLst/>
            <a:gdLst/>
            <a:ahLst/>
            <a:cxnLst/>
            <a:rect r="r" b="b" t="t" l="l"/>
            <a:pathLst>
              <a:path h="1933106" w="5109748">
                <a:moveTo>
                  <a:pt x="0" y="0"/>
                </a:moveTo>
                <a:lnTo>
                  <a:pt x="5109747" y="0"/>
                </a:lnTo>
                <a:lnTo>
                  <a:pt x="5109747" y="1933106"/>
                </a:lnTo>
                <a:lnTo>
                  <a:pt x="0" y="19331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4666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245125" y="7727252"/>
            <a:ext cx="8448327" cy="2291609"/>
          </a:xfrm>
          <a:custGeom>
            <a:avLst/>
            <a:gdLst/>
            <a:ahLst/>
            <a:cxnLst/>
            <a:rect r="r" b="b" t="t" l="l"/>
            <a:pathLst>
              <a:path h="2291609" w="8448327">
                <a:moveTo>
                  <a:pt x="0" y="0"/>
                </a:moveTo>
                <a:lnTo>
                  <a:pt x="8448327" y="0"/>
                </a:lnTo>
                <a:lnTo>
                  <a:pt x="8448327" y="2291609"/>
                </a:lnTo>
                <a:lnTo>
                  <a:pt x="0" y="22916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032986" y="1228999"/>
            <a:ext cx="3507095" cy="2420089"/>
          </a:xfrm>
          <a:custGeom>
            <a:avLst/>
            <a:gdLst/>
            <a:ahLst/>
            <a:cxnLst/>
            <a:rect r="r" b="b" t="t" l="l"/>
            <a:pathLst>
              <a:path h="2420089" w="3507095">
                <a:moveTo>
                  <a:pt x="0" y="0"/>
                </a:moveTo>
                <a:lnTo>
                  <a:pt x="3507094" y="0"/>
                </a:lnTo>
                <a:lnTo>
                  <a:pt x="3507094" y="2420089"/>
                </a:lnTo>
                <a:lnTo>
                  <a:pt x="0" y="24200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28" r="0" b="-228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8905788" y="606425"/>
            <a:ext cx="312700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pc="1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905788" y="4398675"/>
            <a:ext cx="312700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pc="1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1123950"/>
            <a:ext cx="6948877" cy="1581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b="true" sz="6000" spc="-48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</a:t>
            </a:r>
            <a:r>
              <a:rPr lang="en-US" b="true" sz="6000" spc="-48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rincipali evidenze dell'EDA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3555" y="3274756"/>
            <a:ext cx="4275147" cy="786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  <a:spcBef>
                <a:spcPct val="0"/>
              </a:spcBef>
            </a:pPr>
            <a:r>
              <a:rPr lang="en-US" b="true" sz="2099" spc="-16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Grafico 1: Andamento sintomi intra-ciclo (picco fisiologico di dolore e stanchezza nei giorni 1-5).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3555" y="4549885"/>
            <a:ext cx="4275147" cy="786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  <a:spcBef>
                <a:spcPct val="0"/>
              </a:spcBef>
            </a:pPr>
            <a:r>
              <a:rPr lang="en-US" b="true" sz="2099" spc="-16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Grafico 2: confronto della distribuzione della durata del ciclo tra pillola e ciclo naturale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905788" y="7182682"/>
            <a:ext cx="312700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pc="1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3555" y="5967292"/>
            <a:ext cx="4275147" cy="786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  <a:spcBef>
                <a:spcPct val="0"/>
              </a:spcBef>
            </a:pPr>
            <a:r>
              <a:rPr lang="en-US" b="true" sz="2099" spc="-16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Grafico 3: confronto della distribuzione dei sintomi tra pillola e ciclo naturale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223033" y="680796"/>
            <a:ext cx="3127000" cy="1758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1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4</a:t>
            </a:r>
          </a:p>
          <a:p>
            <a:pPr algn="ctr">
              <a:lnSpc>
                <a:spcPts val="5327"/>
              </a:lnSpc>
            </a:pPr>
          </a:p>
          <a:p>
            <a:pPr algn="ctr" marL="0" indent="0" lvl="0">
              <a:lnSpc>
                <a:spcPts val="5327"/>
              </a:lnSpc>
              <a:spcBef>
                <a:spcPct val="0"/>
              </a:spcBef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913555" y="7278625"/>
            <a:ext cx="4275147" cy="786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  <a:spcBef>
                <a:spcPct val="0"/>
              </a:spcBef>
            </a:pPr>
            <a:r>
              <a:rPr lang="en-US" b="true" sz="2099" spc="-16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Grafico 4: Differenza di stress tra fase pre-mestruale (PMS) e post-mestruale.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1711" t="-2752" r="-12482" b="-269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766884" y="163383"/>
            <a:ext cx="6808122" cy="2952585"/>
            <a:chOff x="0" y="0"/>
            <a:chExt cx="1711640" cy="7423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11640" cy="742314"/>
            </a:xfrm>
            <a:custGeom>
              <a:avLst/>
              <a:gdLst/>
              <a:ahLst/>
              <a:cxnLst/>
              <a:rect r="r" b="b" t="t" l="l"/>
              <a:pathLst>
                <a:path h="742314" w="1711640">
                  <a:moveTo>
                    <a:pt x="47761" y="0"/>
                  </a:moveTo>
                  <a:lnTo>
                    <a:pt x="1663879" y="0"/>
                  </a:lnTo>
                  <a:cubicBezTo>
                    <a:pt x="1690257" y="0"/>
                    <a:pt x="1711640" y="21383"/>
                    <a:pt x="1711640" y="47761"/>
                  </a:cubicBezTo>
                  <a:lnTo>
                    <a:pt x="1711640" y="694553"/>
                  </a:lnTo>
                  <a:cubicBezTo>
                    <a:pt x="1711640" y="720931"/>
                    <a:pt x="1690257" y="742314"/>
                    <a:pt x="1663879" y="742314"/>
                  </a:cubicBezTo>
                  <a:lnTo>
                    <a:pt x="47761" y="742314"/>
                  </a:lnTo>
                  <a:cubicBezTo>
                    <a:pt x="21383" y="742314"/>
                    <a:pt x="0" y="720931"/>
                    <a:pt x="0" y="694553"/>
                  </a:cubicBezTo>
                  <a:lnTo>
                    <a:pt x="0" y="47761"/>
                  </a:lnTo>
                  <a:cubicBezTo>
                    <a:pt x="0" y="21383"/>
                    <a:pt x="21383" y="0"/>
                    <a:pt x="47761" y="0"/>
                  </a:cubicBezTo>
                  <a:close/>
                </a:path>
              </a:pathLst>
            </a:custGeom>
            <a:solidFill>
              <a:srgbClr val="0097B2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711640" cy="7518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871737" y="6591989"/>
            <a:ext cx="6808122" cy="3062664"/>
            <a:chOff x="0" y="0"/>
            <a:chExt cx="1711640" cy="7699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11640" cy="769989"/>
            </a:xfrm>
            <a:custGeom>
              <a:avLst/>
              <a:gdLst/>
              <a:ahLst/>
              <a:cxnLst/>
              <a:rect r="r" b="b" t="t" l="l"/>
              <a:pathLst>
                <a:path h="769989" w="1711640">
                  <a:moveTo>
                    <a:pt x="47761" y="0"/>
                  </a:moveTo>
                  <a:lnTo>
                    <a:pt x="1663879" y="0"/>
                  </a:lnTo>
                  <a:cubicBezTo>
                    <a:pt x="1690257" y="0"/>
                    <a:pt x="1711640" y="21383"/>
                    <a:pt x="1711640" y="47761"/>
                  </a:cubicBezTo>
                  <a:lnTo>
                    <a:pt x="1711640" y="722228"/>
                  </a:lnTo>
                  <a:cubicBezTo>
                    <a:pt x="1711640" y="748606"/>
                    <a:pt x="1690257" y="769989"/>
                    <a:pt x="1663879" y="769989"/>
                  </a:cubicBezTo>
                  <a:lnTo>
                    <a:pt x="47761" y="769989"/>
                  </a:lnTo>
                  <a:cubicBezTo>
                    <a:pt x="21383" y="769989"/>
                    <a:pt x="0" y="748606"/>
                    <a:pt x="0" y="722228"/>
                  </a:cubicBezTo>
                  <a:lnTo>
                    <a:pt x="0" y="47761"/>
                  </a:lnTo>
                  <a:cubicBezTo>
                    <a:pt x="0" y="21383"/>
                    <a:pt x="21383" y="0"/>
                    <a:pt x="47761" y="0"/>
                  </a:cubicBezTo>
                  <a:close/>
                </a:path>
              </a:pathLst>
            </a:custGeom>
            <a:solidFill>
              <a:srgbClr val="0097B2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711640" cy="779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386227" y="7047089"/>
            <a:ext cx="5779141" cy="2381648"/>
          </a:xfrm>
          <a:custGeom>
            <a:avLst/>
            <a:gdLst/>
            <a:ahLst/>
            <a:cxnLst/>
            <a:rect r="r" b="b" t="t" l="l"/>
            <a:pathLst>
              <a:path h="2381648" w="5779141">
                <a:moveTo>
                  <a:pt x="0" y="0"/>
                </a:moveTo>
                <a:lnTo>
                  <a:pt x="5779141" y="0"/>
                </a:lnTo>
                <a:lnTo>
                  <a:pt x="5779141" y="2381647"/>
                </a:lnTo>
                <a:lnTo>
                  <a:pt x="0" y="23816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271255" y="538033"/>
            <a:ext cx="5799380" cy="2389989"/>
          </a:xfrm>
          <a:custGeom>
            <a:avLst/>
            <a:gdLst/>
            <a:ahLst/>
            <a:cxnLst/>
            <a:rect r="r" b="b" t="t" l="l"/>
            <a:pathLst>
              <a:path h="2389989" w="5799380">
                <a:moveTo>
                  <a:pt x="0" y="0"/>
                </a:moveTo>
                <a:lnTo>
                  <a:pt x="5799380" y="0"/>
                </a:lnTo>
                <a:lnTo>
                  <a:pt x="5799380" y="2389989"/>
                </a:lnTo>
                <a:lnTo>
                  <a:pt x="0" y="23899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871737" y="3430293"/>
            <a:ext cx="6808122" cy="2930995"/>
            <a:chOff x="0" y="0"/>
            <a:chExt cx="1711640" cy="7368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11640" cy="736886"/>
            </a:xfrm>
            <a:custGeom>
              <a:avLst/>
              <a:gdLst/>
              <a:ahLst/>
              <a:cxnLst/>
              <a:rect r="r" b="b" t="t" l="l"/>
              <a:pathLst>
                <a:path h="736886" w="1711640">
                  <a:moveTo>
                    <a:pt x="47761" y="0"/>
                  </a:moveTo>
                  <a:lnTo>
                    <a:pt x="1663879" y="0"/>
                  </a:lnTo>
                  <a:cubicBezTo>
                    <a:pt x="1690257" y="0"/>
                    <a:pt x="1711640" y="21383"/>
                    <a:pt x="1711640" y="47761"/>
                  </a:cubicBezTo>
                  <a:lnTo>
                    <a:pt x="1711640" y="689125"/>
                  </a:lnTo>
                  <a:cubicBezTo>
                    <a:pt x="1711640" y="701792"/>
                    <a:pt x="1706608" y="713940"/>
                    <a:pt x="1697651" y="722897"/>
                  </a:cubicBezTo>
                  <a:cubicBezTo>
                    <a:pt x="1688694" y="731854"/>
                    <a:pt x="1676546" y="736886"/>
                    <a:pt x="1663879" y="736886"/>
                  </a:cubicBezTo>
                  <a:lnTo>
                    <a:pt x="47761" y="736886"/>
                  </a:lnTo>
                  <a:cubicBezTo>
                    <a:pt x="21383" y="736886"/>
                    <a:pt x="0" y="715503"/>
                    <a:pt x="0" y="689125"/>
                  </a:cubicBezTo>
                  <a:lnTo>
                    <a:pt x="0" y="47761"/>
                  </a:lnTo>
                  <a:cubicBezTo>
                    <a:pt x="0" y="21383"/>
                    <a:pt x="21383" y="0"/>
                    <a:pt x="47761" y="0"/>
                  </a:cubicBezTo>
                  <a:close/>
                </a:path>
              </a:pathLst>
            </a:custGeom>
            <a:solidFill>
              <a:srgbClr val="0097B2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711640" cy="7464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9386227" y="3780193"/>
            <a:ext cx="5779141" cy="2381648"/>
          </a:xfrm>
          <a:custGeom>
            <a:avLst/>
            <a:gdLst/>
            <a:ahLst/>
            <a:cxnLst/>
            <a:rect r="r" b="b" t="t" l="l"/>
            <a:pathLst>
              <a:path h="2381648" w="5779141">
                <a:moveTo>
                  <a:pt x="0" y="0"/>
                </a:moveTo>
                <a:lnTo>
                  <a:pt x="5779141" y="0"/>
                </a:lnTo>
                <a:lnTo>
                  <a:pt x="5779141" y="2381647"/>
                </a:lnTo>
                <a:lnTo>
                  <a:pt x="0" y="23816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607445" y="115758"/>
            <a:ext cx="312700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pc="1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01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712298" y="3382668"/>
            <a:ext cx="3127000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1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02</a:t>
            </a:r>
          </a:p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1123950"/>
            <a:ext cx="6948877" cy="1581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b="true" sz="6000" spc="-48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</a:t>
            </a:r>
            <a:r>
              <a:rPr lang="en-US" b="true" sz="6000" spc="-48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rincipali evidenze dell'EDA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3132478"/>
            <a:ext cx="4275147" cy="529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  <a:spcBef>
                <a:spcPct val="0"/>
              </a:spcBef>
            </a:pPr>
            <a:r>
              <a:rPr lang="en-US" b="true" sz="2099" spc="-16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Grafico 1: media di dolore e gonfiore tra giorni con e senza ciclo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4081168"/>
            <a:ext cx="4275147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b="true" sz="2100" spc="-16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Grafico 2: livello di dolore e stress per fascia d’età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712298" y="6624814"/>
            <a:ext cx="312700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pc="1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03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5058433"/>
            <a:ext cx="4275147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b="true" sz="2100" spc="-16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Gafico 3: Ore di sonno e stress medi tra giorni con il ciclo e giorni senza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1711" t="-2752" r="-12482" b="-269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68071" y="1028700"/>
            <a:ext cx="13351858" cy="8229600"/>
          </a:xfrm>
          <a:custGeom>
            <a:avLst/>
            <a:gdLst/>
            <a:ahLst/>
            <a:cxnLst/>
            <a:rect r="r" b="b" t="t" l="l"/>
            <a:pathLst>
              <a:path h="8229600" w="13351858">
                <a:moveTo>
                  <a:pt x="0" y="0"/>
                </a:moveTo>
                <a:lnTo>
                  <a:pt x="13351858" y="0"/>
                </a:lnTo>
                <a:lnTo>
                  <a:pt x="1335185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4331556" y="2871652"/>
            <a:ext cx="9601115" cy="1581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b="true" sz="6000" spc="-48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modello Fertility Prediction</a:t>
            </a:r>
          </a:p>
          <a:p>
            <a:pPr algn="ctr">
              <a:lnSpc>
                <a:spcPts val="600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3571295" y="3862734"/>
            <a:ext cx="11312078" cy="4703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27"/>
              </a:lnSpc>
            </a:pPr>
            <a:r>
              <a:rPr lang="en-US" b="true" sz="1591" spc="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Si basa su un modello di class</a:t>
            </a:r>
            <a:r>
              <a:rPr lang="en-US" b="true" sz="1591" spc="4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ificazione Random Forest.</a:t>
            </a:r>
          </a:p>
          <a:p>
            <a:pPr algn="ctr" marL="0" indent="0" lvl="0">
              <a:lnSpc>
                <a:spcPts val="2227"/>
              </a:lnSpc>
            </a:pPr>
            <a:r>
              <a:rPr lang="en-US" b="true" sz="1591" spc="4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Per ogni giorno tracciato, il modello esegue una classificazione chiedendosi se l’utente sia fertile.</a:t>
            </a:r>
          </a:p>
          <a:p>
            <a:pPr algn="ctr" marL="0" indent="0" lvl="0">
              <a:lnSpc>
                <a:spcPts val="2227"/>
              </a:lnSpc>
            </a:pPr>
            <a:r>
              <a:rPr lang="en-US" b="true" sz="1591" spc="4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Il dataset è stato filtrato applicando precise regole mediche ed eliminando i "trucchi" statistici: Filtro Contraccettivi (Correzione Biologica): Se l'utente usa contraccettivi ormonali, il target is_fertile viene rigidamente azzerato (0). Il modello viene quindi addestrato solo sui cicli naturali (pari a 6.293 righe)</a:t>
            </a:r>
          </a:p>
          <a:p>
            <a:pPr algn="ctr" marL="0" indent="0" lvl="0">
              <a:lnSpc>
                <a:spcPts val="2227"/>
              </a:lnSpc>
            </a:pPr>
            <a:r>
              <a:rPr lang="en-US" b="true" sz="1591" spc="4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Campi usati: </a:t>
            </a:r>
          </a:p>
          <a:p>
            <a:pPr algn="ctr" marL="0" indent="0" lvl="0">
              <a:lnSpc>
                <a:spcPts val="2227"/>
              </a:lnSpc>
            </a:pPr>
            <a:r>
              <a:rPr lang="en-US" b="true" sz="1591" spc="4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day_in_cycle, pain_level, </a:t>
            </a:r>
          </a:p>
          <a:p>
            <a:pPr algn="ctr" marL="0" indent="0" lvl="0">
              <a:lnSpc>
                <a:spcPts val="2227"/>
              </a:lnSpc>
            </a:pPr>
            <a:r>
              <a:rPr lang="en-US" b="true" sz="1591" spc="4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fatigue_score, mood_score. </a:t>
            </a:r>
          </a:p>
          <a:p>
            <a:pPr algn="ctr" marL="0" indent="0" lvl="0">
              <a:lnSpc>
                <a:spcPts val="2227"/>
              </a:lnSpc>
            </a:pPr>
            <a:r>
              <a:rPr lang="en-US" b="true" sz="1591" spc="4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Risultati e validazione: </a:t>
            </a:r>
          </a:p>
          <a:p>
            <a:pPr algn="ctr" marL="0" indent="0" lvl="0">
              <a:lnSpc>
                <a:spcPts val="2227"/>
              </a:lnSpc>
            </a:pPr>
            <a:r>
              <a:rPr lang="en-US" b="true" sz="1591" spc="4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Recall (Sensibilità) 84%</a:t>
            </a:r>
          </a:p>
          <a:p>
            <a:pPr algn="ctr" marL="0" indent="0" lvl="0">
              <a:lnSpc>
                <a:spcPts val="2227"/>
              </a:lnSpc>
            </a:pPr>
            <a:r>
              <a:rPr lang="en-US" b="true" sz="1591" spc="4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Massima Sicurezza: Riduce al minimo i falsi negativi </a:t>
            </a:r>
          </a:p>
          <a:p>
            <a:pPr algn="ctr" marL="0" indent="0" lvl="0">
              <a:lnSpc>
                <a:spcPts val="2227"/>
              </a:lnSpc>
            </a:pPr>
            <a:r>
              <a:rPr lang="en-US" b="true" sz="1591" spc="4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Significa che la probabilità di dire erroneamente a un utente "non sei fertile" quando invece lo è, è estremamente bassa.</a:t>
            </a:r>
          </a:p>
          <a:p>
            <a:pPr algn="ctr" marL="0" indent="0" lvl="0">
              <a:lnSpc>
                <a:spcPts val="2227"/>
              </a:lnSpc>
            </a:pPr>
          </a:p>
          <a:p>
            <a:pPr algn="ctr" marL="0" indent="0" lvl="0">
              <a:lnSpc>
                <a:spcPts val="2227"/>
              </a:lnSpc>
            </a:pPr>
            <a:r>
              <a:rPr lang="en-US" b="true" sz="1591" spc="4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Precision 52% Cuscino di Protezione: Il modello genera un certo numero di falsi positivi. Biologicamente questo è un vantaggio: non potendo prevedere il futuro, l'algoritmo tende ad allargare prudentemente la finestra fertile per proteggere l'utente.</a:t>
            </a:r>
          </a:p>
          <a:p>
            <a:pPr algn="ctr" marL="0" indent="0" lvl="0">
              <a:lnSpc>
                <a:spcPts val="2227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1711" t="-2752" r="-12482" b="-269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55815" y="3503101"/>
            <a:ext cx="16003485" cy="5269357"/>
            <a:chOff x="0" y="0"/>
            <a:chExt cx="4023460" cy="132477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23460" cy="1324777"/>
            </a:xfrm>
            <a:custGeom>
              <a:avLst/>
              <a:gdLst/>
              <a:ahLst/>
              <a:cxnLst/>
              <a:rect r="r" b="b" t="t" l="l"/>
              <a:pathLst>
                <a:path h="1324777" w="4023460">
                  <a:moveTo>
                    <a:pt x="20318" y="0"/>
                  </a:moveTo>
                  <a:lnTo>
                    <a:pt x="4003142" y="0"/>
                  </a:lnTo>
                  <a:cubicBezTo>
                    <a:pt x="4008531" y="0"/>
                    <a:pt x="4013699" y="2141"/>
                    <a:pt x="4017509" y="5951"/>
                  </a:cubicBezTo>
                  <a:cubicBezTo>
                    <a:pt x="4021320" y="9761"/>
                    <a:pt x="4023460" y="14929"/>
                    <a:pt x="4023460" y="20318"/>
                  </a:cubicBezTo>
                  <a:lnTo>
                    <a:pt x="4023460" y="1304459"/>
                  </a:lnTo>
                  <a:cubicBezTo>
                    <a:pt x="4023460" y="1315680"/>
                    <a:pt x="4014363" y="1324777"/>
                    <a:pt x="4003142" y="1324777"/>
                  </a:cubicBezTo>
                  <a:lnTo>
                    <a:pt x="20318" y="1324777"/>
                  </a:lnTo>
                  <a:cubicBezTo>
                    <a:pt x="9097" y="1324777"/>
                    <a:pt x="0" y="1315680"/>
                    <a:pt x="0" y="1304459"/>
                  </a:cubicBezTo>
                  <a:lnTo>
                    <a:pt x="0" y="20318"/>
                  </a:lnTo>
                  <a:cubicBezTo>
                    <a:pt x="0" y="9097"/>
                    <a:pt x="9097" y="0"/>
                    <a:pt x="20318" y="0"/>
                  </a:cubicBezTo>
                  <a:close/>
                </a:path>
              </a:pathLst>
            </a:custGeom>
            <a:solidFill>
              <a:srgbClr val="0097B2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4023460" cy="13343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73809" y="3792022"/>
            <a:ext cx="15354052" cy="4691516"/>
          </a:xfrm>
          <a:custGeom>
            <a:avLst/>
            <a:gdLst/>
            <a:ahLst/>
            <a:cxnLst/>
            <a:rect r="r" b="b" t="t" l="l"/>
            <a:pathLst>
              <a:path h="4691516" w="15354052">
                <a:moveTo>
                  <a:pt x="0" y="0"/>
                </a:moveTo>
                <a:lnTo>
                  <a:pt x="15354052" y="0"/>
                </a:lnTo>
                <a:lnTo>
                  <a:pt x="15354052" y="4691516"/>
                </a:lnTo>
                <a:lnTo>
                  <a:pt x="0" y="46915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123950"/>
            <a:ext cx="6948877" cy="1581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b="true" sz="6000" spc="-48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</a:t>
            </a:r>
            <a:r>
              <a:rPr lang="en-US" b="true" sz="6000" spc="-48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rincipali evidenze dell modello fertility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1711" t="-2752" r="-12482" b="-269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614665" y="4061520"/>
            <a:ext cx="5581682" cy="2930661"/>
            <a:chOff x="0" y="0"/>
            <a:chExt cx="1403299" cy="73680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03299" cy="736802"/>
            </a:xfrm>
            <a:custGeom>
              <a:avLst/>
              <a:gdLst/>
              <a:ahLst/>
              <a:cxnLst/>
              <a:rect r="r" b="b" t="t" l="l"/>
              <a:pathLst>
                <a:path h="736802" w="1403299">
                  <a:moveTo>
                    <a:pt x="58255" y="0"/>
                  </a:moveTo>
                  <a:lnTo>
                    <a:pt x="1345044" y="0"/>
                  </a:lnTo>
                  <a:cubicBezTo>
                    <a:pt x="1360494" y="0"/>
                    <a:pt x="1375312" y="6138"/>
                    <a:pt x="1386237" y="17062"/>
                  </a:cubicBezTo>
                  <a:cubicBezTo>
                    <a:pt x="1397162" y="27987"/>
                    <a:pt x="1403299" y="42805"/>
                    <a:pt x="1403299" y="58255"/>
                  </a:cubicBezTo>
                  <a:lnTo>
                    <a:pt x="1403299" y="678547"/>
                  </a:lnTo>
                  <a:cubicBezTo>
                    <a:pt x="1403299" y="710720"/>
                    <a:pt x="1377218" y="736802"/>
                    <a:pt x="1345044" y="736802"/>
                  </a:cubicBezTo>
                  <a:lnTo>
                    <a:pt x="58255" y="736802"/>
                  </a:lnTo>
                  <a:cubicBezTo>
                    <a:pt x="26082" y="736802"/>
                    <a:pt x="0" y="710720"/>
                    <a:pt x="0" y="678547"/>
                  </a:cubicBezTo>
                  <a:lnTo>
                    <a:pt x="0" y="58255"/>
                  </a:lnTo>
                  <a:cubicBezTo>
                    <a:pt x="0" y="26082"/>
                    <a:pt x="26082" y="0"/>
                    <a:pt x="58255" y="0"/>
                  </a:cubicBezTo>
                  <a:close/>
                </a:path>
              </a:pathLst>
            </a:custGeom>
            <a:solidFill>
              <a:srgbClr val="0097B2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403299" cy="746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615518" y="2811615"/>
            <a:ext cx="12436872" cy="5605838"/>
            <a:chOff x="0" y="0"/>
            <a:chExt cx="3126773" cy="14093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26773" cy="1409372"/>
            </a:xfrm>
            <a:custGeom>
              <a:avLst/>
              <a:gdLst/>
              <a:ahLst/>
              <a:cxnLst/>
              <a:rect r="r" b="b" t="t" l="l"/>
              <a:pathLst>
                <a:path h="1409372" w="3126773">
                  <a:moveTo>
                    <a:pt x="26145" y="0"/>
                  </a:moveTo>
                  <a:lnTo>
                    <a:pt x="3100628" y="0"/>
                  </a:lnTo>
                  <a:cubicBezTo>
                    <a:pt x="3115067" y="0"/>
                    <a:pt x="3126773" y="11705"/>
                    <a:pt x="3126773" y="26145"/>
                  </a:cubicBezTo>
                  <a:lnTo>
                    <a:pt x="3126773" y="1383227"/>
                  </a:lnTo>
                  <a:cubicBezTo>
                    <a:pt x="3126773" y="1390161"/>
                    <a:pt x="3124018" y="1396811"/>
                    <a:pt x="3119115" y="1401714"/>
                  </a:cubicBezTo>
                  <a:cubicBezTo>
                    <a:pt x="3114212" y="1406618"/>
                    <a:pt x="3107562" y="1409372"/>
                    <a:pt x="3100628" y="1409372"/>
                  </a:cubicBezTo>
                  <a:lnTo>
                    <a:pt x="26145" y="1409372"/>
                  </a:lnTo>
                  <a:cubicBezTo>
                    <a:pt x="11705" y="1409372"/>
                    <a:pt x="0" y="1397667"/>
                    <a:pt x="0" y="1383227"/>
                  </a:cubicBezTo>
                  <a:lnTo>
                    <a:pt x="0" y="26145"/>
                  </a:lnTo>
                  <a:cubicBezTo>
                    <a:pt x="0" y="11705"/>
                    <a:pt x="11705" y="0"/>
                    <a:pt x="26145" y="0"/>
                  </a:cubicBezTo>
                  <a:close/>
                </a:path>
              </a:pathLst>
            </a:custGeom>
            <a:solidFill>
              <a:srgbClr val="0097B2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3126773" cy="1418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979435" y="3006468"/>
            <a:ext cx="11911829" cy="5051250"/>
          </a:xfrm>
          <a:custGeom>
            <a:avLst/>
            <a:gdLst/>
            <a:ahLst/>
            <a:cxnLst/>
            <a:rect r="r" b="b" t="t" l="l"/>
            <a:pathLst>
              <a:path h="5051250" w="11911829">
                <a:moveTo>
                  <a:pt x="0" y="0"/>
                </a:moveTo>
                <a:lnTo>
                  <a:pt x="11911830" y="0"/>
                </a:lnTo>
                <a:lnTo>
                  <a:pt x="11911830" y="5051250"/>
                </a:lnTo>
                <a:lnTo>
                  <a:pt x="0" y="50512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47" t="0" r="-247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1123950"/>
            <a:ext cx="6948877" cy="1581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b="true" sz="6000" spc="-48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</a:t>
            </a:r>
            <a:r>
              <a:rPr lang="en-US" b="true" sz="6000" spc="-48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rincipali evidenze dell modello fertility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1711" t="-2752" r="-12482" b="-269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614665" y="4061520"/>
            <a:ext cx="5581682" cy="2930661"/>
            <a:chOff x="0" y="0"/>
            <a:chExt cx="1403299" cy="73680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03299" cy="736802"/>
            </a:xfrm>
            <a:custGeom>
              <a:avLst/>
              <a:gdLst/>
              <a:ahLst/>
              <a:cxnLst/>
              <a:rect r="r" b="b" t="t" l="l"/>
              <a:pathLst>
                <a:path h="736802" w="1403299">
                  <a:moveTo>
                    <a:pt x="58255" y="0"/>
                  </a:moveTo>
                  <a:lnTo>
                    <a:pt x="1345044" y="0"/>
                  </a:lnTo>
                  <a:cubicBezTo>
                    <a:pt x="1360494" y="0"/>
                    <a:pt x="1375312" y="6138"/>
                    <a:pt x="1386237" y="17062"/>
                  </a:cubicBezTo>
                  <a:cubicBezTo>
                    <a:pt x="1397162" y="27987"/>
                    <a:pt x="1403299" y="42805"/>
                    <a:pt x="1403299" y="58255"/>
                  </a:cubicBezTo>
                  <a:lnTo>
                    <a:pt x="1403299" y="678547"/>
                  </a:lnTo>
                  <a:cubicBezTo>
                    <a:pt x="1403299" y="710720"/>
                    <a:pt x="1377218" y="736802"/>
                    <a:pt x="1345044" y="736802"/>
                  </a:cubicBezTo>
                  <a:lnTo>
                    <a:pt x="58255" y="736802"/>
                  </a:lnTo>
                  <a:cubicBezTo>
                    <a:pt x="26082" y="736802"/>
                    <a:pt x="0" y="710720"/>
                    <a:pt x="0" y="678547"/>
                  </a:cubicBezTo>
                  <a:lnTo>
                    <a:pt x="0" y="58255"/>
                  </a:lnTo>
                  <a:cubicBezTo>
                    <a:pt x="0" y="26082"/>
                    <a:pt x="26082" y="0"/>
                    <a:pt x="58255" y="0"/>
                  </a:cubicBezTo>
                  <a:close/>
                </a:path>
              </a:pathLst>
            </a:custGeom>
            <a:solidFill>
              <a:srgbClr val="0097B2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403299" cy="746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767108" y="2733725"/>
            <a:ext cx="9564280" cy="6908707"/>
            <a:chOff x="0" y="0"/>
            <a:chExt cx="2404570" cy="17369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04570" cy="1736928"/>
            </a:xfrm>
            <a:custGeom>
              <a:avLst/>
              <a:gdLst/>
              <a:ahLst/>
              <a:cxnLst/>
              <a:rect r="r" b="b" t="t" l="l"/>
              <a:pathLst>
                <a:path h="1736928" w="2404570">
                  <a:moveTo>
                    <a:pt x="33997" y="0"/>
                  </a:moveTo>
                  <a:lnTo>
                    <a:pt x="2370573" y="0"/>
                  </a:lnTo>
                  <a:cubicBezTo>
                    <a:pt x="2389349" y="0"/>
                    <a:pt x="2404570" y="15221"/>
                    <a:pt x="2404570" y="33997"/>
                  </a:cubicBezTo>
                  <a:lnTo>
                    <a:pt x="2404570" y="1702931"/>
                  </a:lnTo>
                  <a:cubicBezTo>
                    <a:pt x="2404570" y="1721707"/>
                    <a:pt x="2389349" y="1736928"/>
                    <a:pt x="2370573" y="1736928"/>
                  </a:cubicBezTo>
                  <a:lnTo>
                    <a:pt x="33997" y="1736928"/>
                  </a:lnTo>
                  <a:cubicBezTo>
                    <a:pt x="15221" y="1736928"/>
                    <a:pt x="0" y="1721707"/>
                    <a:pt x="0" y="1702931"/>
                  </a:cubicBezTo>
                  <a:lnTo>
                    <a:pt x="0" y="33997"/>
                  </a:lnTo>
                  <a:cubicBezTo>
                    <a:pt x="0" y="15221"/>
                    <a:pt x="15221" y="0"/>
                    <a:pt x="33997" y="0"/>
                  </a:cubicBezTo>
                  <a:close/>
                </a:path>
              </a:pathLst>
            </a:custGeom>
            <a:solidFill>
              <a:srgbClr val="0097B2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404570" cy="17464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340041" y="3052648"/>
            <a:ext cx="8418415" cy="6270860"/>
          </a:xfrm>
          <a:custGeom>
            <a:avLst/>
            <a:gdLst/>
            <a:ahLst/>
            <a:cxnLst/>
            <a:rect r="r" b="b" t="t" l="l"/>
            <a:pathLst>
              <a:path h="6270860" w="8418415">
                <a:moveTo>
                  <a:pt x="0" y="0"/>
                </a:moveTo>
                <a:lnTo>
                  <a:pt x="8418414" y="0"/>
                </a:lnTo>
                <a:lnTo>
                  <a:pt x="8418414" y="6270860"/>
                </a:lnTo>
                <a:lnTo>
                  <a:pt x="0" y="62708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1123950"/>
            <a:ext cx="6948877" cy="1581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b="true" sz="6000" spc="-48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</a:t>
            </a:r>
            <a:r>
              <a:rPr lang="en-US" b="true" sz="6000" spc="-48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rincipali evidenze dell modello fertility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1711" t="-2752" r="-12482" b="-269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68071" y="1028700"/>
            <a:ext cx="13351858" cy="8229600"/>
          </a:xfrm>
          <a:custGeom>
            <a:avLst/>
            <a:gdLst/>
            <a:ahLst/>
            <a:cxnLst/>
            <a:rect r="r" b="b" t="t" l="l"/>
            <a:pathLst>
              <a:path h="8229600" w="13351858">
                <a:moveTo>
                  <a:pt x="0" y="0"/>
                </a:moveTo>
                <a:lnTo>
                  <a:pt x="13351858" y="0"/>
                </a:lnTo>
                <a:lnTo>
                  <a:pt x="1335185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4343442" y="2781735"/>
            <a:ext cx="9601115" cy="81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b="true" sz="6000" spc="-48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Modello Anomaly alert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25172" y="3722502"/>
            <a:ext cx="11437656" cy="5031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07"/>
              </a:lnSpc>
            </a:pPr>
            <a:r>
              <a:rPr lang="en-US" b="true" sz="1791" spc="5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Obbiettivo: fornire all’utenza un mess</a:t>
            </a:r>
            <a:r>
              <a:rPr lang="en-US" b="true" sz="1791" spc="5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aggio di avviso di anomalia nella durata del ciclo</a:t>
            </a:r>
          </a:p>
          <a:p>
            <a:pPr algn="just" marL="0" indent="0" lvl="0">
              <a:lnSpc>
                <a:spcPts val="2507"/>
              </a:lnSpc>
            </a:pPr>
          </a:p>
          <a:p>
            <a:pPr algn="just" marL="0" indent="0" lvl="0">
              <a:lnSpc>
                <a:spcPts val="2507"/>
              </a:lnSpc>
            </a:pPr>
            <a:r>
              <a:rPr lang="en-US" b="true" sz="1791" spc="5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Campi utilizzati: rolling stress 3 days</a:t>
            </a:r>
          </a:p>
          <a:p>
            <a:pPr algn="just" marL="0" indent="0" lvl="0">
              <a:lnSpc>
                <a:spcPts val="2507"/>
              </a:lnSpc>
            </a:pPr>
            <a:r>
              <a:rPr lang="en-US" b="true" sz="1791" spc="5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rolling sleep 3 days</a:t>
            </a:r>
          </a:p>
          <a:p>
            <a:pPr algn="just" marL="0" indent="0" lvl="0">
              <a:lnSpc>
                <a:spcPts val="2507"/>
              </a:lnSpc>
            </a:pPr>
            <a:r>
              <a:rPr lang="en-US" b="true" sz="1791" spc="5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evidenziano accumulo di stress e stancheza</a:t>
            </a:r>
          </a:p>
          <a:p>
            <a:pPr algn="just" marL="0" indent="0" lvl="0">
              <a:lnSpc>
                <a:spcPts val="2507"/>
              </a:lnSpc>
            </a:pPr>
            <a:r>
              <a:rPr lang="en-US" b="true" sz="1791" spc="5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pain velocity: velocità di cambiamento di livello di colore</a:t>
            </a:r>
          </a:p>
          <a:p>
            <a:pPr algn="just" marL="0" indent="0" lvl="0">
              <a:lnSpc>
                <a:spcPts val="2507"/>
              </a:lnSpc>
            </a:pPr>
          </a:p>
          <a:p>
            <a:pPr algn="just" marL="0" indent="0" lvl="0">
              <a:lnSpc>
                <a:spcPts val="2507"/>
              </a:lnSpc>
            </a:pPr>
            <a:r>
              <a:rPr lang="en-US" b="true" sz="1791" spc="5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Funzionamento: il modello aggrega i dati e calcola una soglia sopra la quale fornisce avviso di anomalia</a:t>
            </a:r>
          </a:p>
          <a:p>
            <a:pPr algn="just" marL="0" indent="0" lvl="0">
              <a:lnSpc>
                <a:spcPts val="2507"/>
              </a:lnSpc>
            </a:pPr>
          </a:p>
          <a:p>
            <a:pPr algn="just" marL="0" indent="0" lvl="0">
              <a:lnSpc>
                <a:spcPts val="2507"/>
              </a:lnSpc>
            </a:pPr>
            <a:r>
              <a:rPr lang="en-US" b="true" sz="1791" spc="5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Precision 94% Quando l'app invia una notifica di allerta all'utente ("Rilevata anomalia"), la segnalazione è corretta e fondata nel 94% dei casi, riducendo quasi a zero i falsi allarmi e l'ansia ingiustificata.</a:t>
            </a:r>
          </a:p>
          <a:p>
            <a:pPr algn="just" marL="0" indent="0" lvl="0">
              <a:lnSpc>
                <a:spcPts val="2507"/>
              </a:lnSpc>
            </a:pPr>
            <a:r>
              <a:rPr lang="en-US" b="true" sz="1791" spc="5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Recall (Sensibilità) 88%Il modello riesce a catturare l'88% di tutti i cicli effettivamente problematici. Solo una minima parte di anomalie sfugge al controllo.</a:t>
            </a:r>
          </a:p>
          <a:p>
            <a:pPr algn="just" marL="0" indent="0" lvl="0">
              <a:lnSpc>
                <a:spcPts val="2507"/>
              </a:lnSpc>
            </a:pPr>
            <a:r>
              <a:rPr lang="en-US" b="true" sz="1791" spc="5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</a:p>
          <a:p>
            <a:pPr algn="just" marL="0" indent="0" lvl="0">
              <a:lnSpc>
                <a:spcPts val="2507"/>
              </a:lnSpc>
            </a:pPr>
          </a:p>
          <a:p>
            <a:pPr algn="just" marL="0" indent="0" lvl="0">
              <a:lnSpc>
                <a:spcPts val="2507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1711" t="-2752" r="-12482" b="-269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767108" y="3086105"/>
            <a:ext cx="9564280" cy="6556327"/>
            <a:chOff x="0" y="0"/>
            <a:chExt cx="2404570" cy="16483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04570" cy="1648336"/>
            </a:xfrm>
            <a:custGeom>
              <a:avLst/>
              <a:gdLst/>
              <a:ahLst/>
              <a:cxnLst/>
              <a:rect r="r" b="b" t="t" l="l"/>
              <a:pathLst>
                <a:path h="1648336" w="2404570">
                  <a:moveTo>
                    <a:pt x="33997" y="0"/>
                  </a:moveTo>
                  <a:lnTo>
                    <a:pt x="2370573" y="0"/>
                  </a:lnTo>
                  <a:cubicBezTo>
                    <a:pt x="2389349" y="0"/>
                    <a:pt x="2404570" y="15221"/>
                    <a:pt x="2404570" y="33997"/>
                  </a:cubicBezTo>
                  <a:lnTo>
                    <a:pt x="2404570" y="1614339"/>
                  </a:lnTo>
                  <a:cubicBezTo>
                    <a:pt x="2404570" y="1633115"/>
                    <a:pt x="2389349" y="1648336"/>
                    <a:pt x="2370573" y="1648336"/>
                  </a:cubicBezTo>
                  <a:lnTo>
                    <a:pt x="33997" y="1648336"/>
                  </a:lnTo>
                  <a:cubicBezTo>
                    <a:pt x="15221" y="1648336"/>
                    <a:pt x="0" y="1633115"/>
                    <a:pt x="0" y="1614339"/>
                  </a:cubicBezTo>
                  <a:lnTo>
                    <a:pt x="0" y="33997"/>
                  </a:lnTo>
                  <a:cubicBezTo>
                    <a:pt x="0" y="15221"/>
                    <a:pt x="15221" y="0"/>
                    <a:pt x="33997" y="0"/>
                  </a:cubicBezTo>
                  <a:close/>
                </a:path>
              </a:pathLst>
            </a:custGeom>
            <a:solidFill>
              <a:srgbClr val="0097B2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404570" cy="1657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957540" y="3394823"/>
            <a:ext cx="9183416" cy="5938891"/>
          </a:xfrm>
          <a:custGeom>
            <a:avLst/>
            <a:gdLst/>
            <a:ahLst/>
            <a:cxnLst/>
            <a:rect r="r" b="b" t="t" l="l"/>
            <a:pathLst>
              <a:path h="5938891" w="9183416">
                <a:moveTo>
                  <a:pt x="0" y="0"/>
                </a:moveTo>
                <a:lnTo>
                  <a:pt x="9183416" y="0"/>
                </a:lnTo>
                <a:lnTo>
                  <a:pt x="9183416" y="5938891"/>
                </a:lnTo>
                <a:lnTo>
                  <a:pt x="0" y="59388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8888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742950"/>
            <a:ext cx="6948877" cy="2343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b="true" sz="6000" spc="-48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</a:t>
            </a:r>
            <a:r>
              <a:rPr lang="en-US" b="true" sz="6000" spc="-48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rincipali evidenze del modello anomaly alert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1711" t="-2752" r="-12482" b="-269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68071" y="1028700"/>
            <a:ext cx="13351858" cy="8229600"/>
          </a:xfrm>
          <a:custGeom>
            <a:avLst/>
            <a:gdLst/>
            <a:ahLst/>
            <a:cxnLst/>
            <a:rect r="r" b="b" t="t" l="l"/>
            <a:pathLst>
              <a:path h="8229600" w="13351858">
                <a:moveTo>
                  <a:pt x="0" y="0"/>
                </a:moveTo>
                <a:lnTo>
                  <a:pt x="13351858" y="0"/>
                </a:lnTo>
                <a:lnTo>
                  <a:pt x="1335185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4343442" y="2220029"/>
            <a:ext cx="9601115" cy="81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b="true" sz="6000" spc="-48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Modello Health index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93873" y="3572315"/>
            <a:ext cx="7500255" cy="5617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790"/>
              </a:lnSpc>
            </a:pPr>
            <a:r>
              <a:rPr lang="en-US" b="true" sz="1278" spc="3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Obbiettivo: fornire all’utenza un </a:t>
            </a:r>
            <a:r>
              <a:rPr lang="en-US" b="true" sz="1278" spc="3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avviso di peggioramento dello stato di salute per cercare aiuto professionale</a:t>
            </a:r>
          </a:p>
          <a:p>
            <a:pPr algn="just" marL="0" indent="0" lvl="0">
              <a:lnSpc>
                <a:spcPts val="1790"/>
              </a:lnSpc>
            </a:pPr>
          </a:p>
          <a:p>
            <a:pPr algn="just" marL="0" indent="0" lvl="0">
              <a:lnSpc>
                <a:spcPts val="1790"/>
              </a:lnSpc>
            </a:pPr>
            <a:r>
              <a:rPr lang="en-US" b="true" sz="1278" spc="3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funzionamento: </a:t>
            </a:r>
          </a:p>
          <a:p>
            <a:pPr algn="just" marL="0" indent="0" lvl="0">
              <a:lnSpc>
                <a:spcPts val="1790"/>
              </a:lnSpc>
            </a:pPr>
          </a:p>
          <a:p>
            <a:pPr algn="just" marL="276049" indent="-138025" lvl="1">
              <a:lnSpc>
                <a:spcPts val="1790"/>
              </a:lnSpc>
              <a:buFont typeface="Arial"/>
              <a:buChar char="•"/>
            </a:pPr>
            <a:r>
              <a:rPr lang="en-US" b="true" sz="1278" spc="3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Dolore Severo: Il picco di dolore massimo registrato è &gt; 7 su una scala da 1 a 10. </a:t>
            </a:r>
          </a:p>
          <a:p>
            <a:pPr algn="just" marL="276049" indent="-138025" lvl="1">
              <a:lnSpc>
                <a:spcPts val="1790"/>
              </a:lnSpc>
              <a:buFont typeface="Arial"/>
              <a:buChar char="•"/>
            </a:pPr>
            <a:r>
              <a:rPr lang="en-US" b="true" sz="1278" spc="3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Instabilità della Durata: La durata del ciclo sballa (in eccesso o in difetto) di oltre 6 giorni rispetto alla media storica personale di quella specifica utente</a:t>
            </a:r>
          </a:p>
          <a:p>
            <a:pPr algn="just" marL="0" indent="0" lvl="0">
              <a:lnSpc>
                <a:spcPts val="1790"/>
              </a:lnSpc>
            </a:pPr>
            <a:r>
              <a:rPr lang="en-US" b="true" sz="1278" spc="3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aggregando i dati il modello calcola una soglia probabilistica di rischio. (60%)</a:t>
            </a:r>
          </a:p>
          <a:p>
            <a:pPr algn="just" marL="0" indent="0" lvl="0">
              <a:lnSpc>
                <a:spcPts val="1790"/>
              </a:lnSpc>
            </a:pPr>
          </a:p>
          <a:p>
            <a:pPr algn="just" marL="0" indent="0" lvl="0">
              <a:lnSpc>
                <a:spcPts val="1790"/>
              </a:lnSpc>
            </a:pPr>
            <a:r>
              <a:rPr lang="en-US" b="true" sz="1278" spc="3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Campi utilizzati: </a:t>
            </a:r>
          </a:p>
          <a:p>
            <a:pPr algn="just" marL="0" indent="0" lvl="0">
              <a:lnSpc>
                <a:spcPts val="1790"/>
              </a:lnSpc>
            </a:pPr>
          </a:p>
          <a:p>
            <a:pPr algn="just" marL="276049" indent="-138025" lvl="1">
              <a:lnSpc>
                <a:spcPts val="1790"/>
              </a:lnSpc>
              <a:buFont typeface="Arial"/>
              <a:buChar char="•"/>
            </a:pPr>
            <a:r>
              <a:rPr lang="en-US" b="true" sz="1278" spc="3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Instabilità temporale del ciclo: Lo scostamento in giorni del ciclo rispetto alla media espandibile dell'utente. </a:t>
            </a:r>
          </a:p>
          <a:p>
            <a:pPr algn="just" marL="276049" indent="-138025" lvl="1">
              <a:lnSpc>
                <a:spcPts val="1790"/>
              </a:lnSpc>
              <a:buFont typeface="Arial"/>
              <a:buChar char="•"/>
            </a:pPr>
            <a:r>
              <a:rPr lang="en-US" b="true" sz="1278" spc="3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Marker Infiammatori Cumulativi: Il numero di giorni con cefalea accumulati nei mesi precedenti. </a:t>
            </a:r>
          </a:p>
          <a:p>
            <a:pPr algn="just" marL="276049" indent="-138025" lvl="1">
              <a:lnSpc>
                <a:spcPts val="1790"/>
              </a:lnSpc>
              <a:buFont typeface="Arial"/>
              <a:buChar char="•"/>
            </a:pPr>
            <a:r>
              <a:rPr lang="en-US" b="true" sz="1278" spc="3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Uso di contraccettivi</a:t>
            </a:r>
          </a:p>
          <a:p>
            <a:pPr algn="just" marL="276049" indent="-138025" lvl="1">
              <a:lnSpc>
                <a:spcPts val="1790"/>
              </a:lnSpc>
              <a:buFont typeface="Arial"/>
              <a:buChar char="•"/>
            </a:pPr>
            <a:r>
              <a:rPr lang="en-US" b="true" sz="1278" spc="3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Stanchezza in Fase Luteale: ovvero la finestra premestruale in cui gli squilibri ormonali sono più acuti</a:t>
            </a:r>
          </a:p>
          <a:p>
            <a:pPr algn="just">
              <a:lnSpc>
                <a:spcPts val="1790"/>
              </a:lnSpc>
            </a:pPr>
          </a:p>
          <a:p>
            <a:pPr algn="just" marL="0" indent="0" lvl="0">
              <a:lnSpc>
                <a:spcPts val="1790"/>
              </a:lnSpc>
            </a:pPr>
            <a:r>
              <a:rPr lang="en-US" b="true" sz="1278" spc="3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Risultati: </a:t>
            </a:r>
          </a:p>
          <a:p>
            <a:pPr algn="just" marL="276049" indent="-138025" lvl="1">
              <a:lnSpc>
                <a:spcPts val="1790"/>
              </a:lnSpc>
              <a:buFont typeface="Arial"/>
              <a:buChar char="•"/>
            </a:pPr>
            <a:r>
              <a:rPr lang="en-US" b="true" sz="1278" spc="3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Recall: 96% Il modello è in grado di intercettare e identificare correttamente il 96% dei cicli a rischio (anomalie di durata o dolore severo). </a:t>
            </a:r>
          </a:p>
          <a:p>
            <a:pPr algn="just" marL="276049" indent="-138025" lvl="1">
              <a:lnSpc>
                <a:spcPts val="1790"/>
              </a:lnSpc>
              <a:buFont typeface="Arial"/>
              <a:buChar char="•"/>
            </a:pPr>
            <a:r>
              <a:rPr lang="en-US" b="true" sz="1278" spc="3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Precision: 92% Quando il sistema emette un'allerta di rischio ("Consiglia Visita"), c'è una precisione del 92% che l'anomalia si verifichi realmente, riducendo drasticamente i falsi allarmi.</a:t>
            </a:r>
          </a:p>
          <a:p>
            <a:pPr algn="just" marL="0" indent="0" lvl="0">
              <a:lnSpc>
                <a:spcPts val="1790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3"/>
            <a:stretch>
              <a:fillRect l="-11711" t="-2752" r="-12482" b="-269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154474" y="2033677"/>
            <a:ext cx="10888543" cy="7323207"/>
            <a:chOff x="0" y="0"/>
            <a:chExt cx="2737505" cy="18411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37505" cy="1841139"/>
            </a:xfrm>
            <a:custGeom>
              <a:avLst/>
              <a:gdLst/>
              <a:ahLst/>
              <a:cxnLst/>
              <a:rect r="r" b="b" t="t" l="l"/>
              <a:pathLst>
                <a:path h="1841139" w="2737505">
                  <a:moveTo>
                    <a:pt x="29863" y="0"/>
                  </a:moveTo>
                  <a:lnTo>
                    <a:pt x="2707642" y="0"/>
                  </a:lnTo>
                  <a:cubicBezTo>
                    <a:pt x="2715562" y="0"/>
                    <a:pt x="2723158" y="3146"/>
                    <a:pt x="2728758" y="8747"/>
                  </a:cubicBezTo>
                  <a:cubicBezTo>
                    <a:pt x="2734358" y="14347"/>
                    <a:pt x="2737505" y="21943"/>
                    <a:pt x="2737505" y="29863"/>
                  </a:cubicBezTo>
                  <a:lnTo>
                    <a:pt x="2737505" y="1811276"/>
                  </a:lnTo>
                  <a:cubicBezTo>
                    <a:pt x="2737505" y="1819196"/>
                    <a:pt x="2734358" y="1826792"/>
                    <a:pt x="2728758" y="1832392"/>
                  </a:cubicBezTo>
                  <a:cubicBezTo>
                    <a:pt x="2723158" y="1837992"/>
                    <a:pt x="2715562" y="1841139"/>
                    <a:pt x="2707642" y="1841139"/>
                  </a:cubicBezTo>
                  <a:lnTo>
                    <a:pt x="29863" y="1841139"/>
                  </a:lnTo>
                  <a:cubicBezTo>
                    <a:pt x="13370" y="1841139"/>
                    <a:pt x="0" y="1827769"/>
                    <a:pt x="0" y="1811276"/>
                  </a:cubicBezTo>
                  <a:lnTo>
                    <a:pt x="0" y="29863"/>
                  </a:lnTo>
                  <a:cubicBezTo>
                    <a:pt x="0" y="21943"/>
                    <a:pt x="3146" y="14347"/>
                    <a:pt x="8747" y="8747"/>
                  </a:cubicBezTo>
                  <a:cubicBezTo>
                    <a:pt x="14347" y="3146"/>
                    <a:pt x="21943" y="0"/>
                    <a:pt x="29863" y="0"/>
                  </a:cubicBezTo>
                  <a:close/>
                </a:path>
              </a:pathLst>
            </a:custGeom>
            <a:solidFill>
              <a:srgbClr val="0097B2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737505" cy="1850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419462" y="2315098"/>
            <a:ext cx="10358568" cy="6760365"/>
          </a:xfrm>
          <a:custGeom>
            <a:avLst/>
            <a:gdLst/>
            <a:ahLst/>
            <a:cxnLst/>
            <a:rect r="r" b="b" t="t" l="l"/>
            <a:pathLst>
              <a:path h="6760365" w="10358568">
                <a:moveTo>
                  <a:pt x="0" y="0"/>
                </a:moveTo>
                <a:lnTo>
                  <a:pt x="10358568" y="0"/>
                </a:lnTo>
                <a:lnTo>
                  <a:pt x="10358568" y="6760366"/>
                </a:lnTo>
                <a:lnTo>
                  <a:pt x="0" y="67603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421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222535"/>
            <a:ext cx="6948877" cy="1581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b="true" sz="6000" spc="-48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dal dato al modello (pipeline)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461095"/>
            <a:ext cx="4275147" cy="1558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  <a:spcBef>
                <a:spcPct val="0"/>
              </a:spcBef>
            </a:pPr>
            <a:r>
              <a:rPr lang="en-US" b="true" sz="2099" spc="-16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Il 73.7% dei cicli totali nel database registra un picco di dolore</a:t>
            </a:r>
          </a:p>
          <a:p>
            <a:pPr algn="l">
              <a:lnSpc>
                <a:spcPts val="2099"/>
              </a:lnSpc>
              <a:spcBef>
                <a:spcPct val="0"/>
              </a:spcBef>
            </a:pPr>
            <a:r>
              <a:rPr lang="en-US" b="true" sz="2099" spc="-16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severo (≥ 7). Il dolore acuto è quindi una costante cronica di questa popolazione e non può fare da</a:t>
            </a:r>
          </a:p>
          <a:p>
            <a:pPr algn="l">
              <a:lnSpc>
                <a:spcPts val="2099"/>
              </a:lnSpc>
              <a:spcBef>
                <a:spcPct val="0"/>
              </a:spcBef>
            </a:pPr>
            <a:r>
              <a:rPr lang="en-US" b="true" sz="2099" spc="-16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solo screening isolato.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1711" t="-2752" r="-12482" b="-269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663445" y="1866902"/>
            <a:ext cx="10008005" cy="7391398"/>
            <a:chOff x="0" y="0"/>
            <a:chExt cx="2516128" cy="185828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16128" cy="1858282"/>
            </a:xfrm>
            <a:custGeom>
              <a:avLst/>
              <a:gdLst/>
              <a:ahLst/>
              <a:cxnLst/>
              <a:rect r="r" b="b" t="t" l="l"/>
              <a:pathLst>
                <a:path h="1858282" w="2516128">
                  <a:moveTo>
                    <a:pt x="32490" y="0"/>
                  </a:moveTo>
                  <a:lnTo>
                    <a:pt x="2483638" y="0"/>
                  </a:lnTo>
                  <a:cubicBezTo>
                    <a:pt x="2501581" y="0"/>
                    <a:pt x="2516128" y="14546"/>
                    <a:pt x="2516128" y="32490"/>
                  </a:cubicBezTo>
                  <a:lnTo>
                    <a:pt x="2516128" y="1825792"/>
                  </a:lnTo>
                  <a:cubicBezTo>
                    <a:pt x="2516128" y="1843736"/>
                    <a:pt x="2501581" y="1858282"/>
                    <a:pt x="2483638" y="1858282"/>
                  </a:cubicBezTo>
                  <a:lnTo>
                    <a:pt x="32490" y="1858282"/>
                  </a:lnTo>
                  <a:cubicBezTo>
                    <a:pt x="14546" y="1858282"/>
                    <a:pt x="0" y="1843736"/>
                    <a:pt x="0" y="1825792"/>
                  </a:cubicBezTo>
                  <a:lnTo>
                    <a:pt x="0" y="32490"/>
                  </a:lnTo>
                  <a:cubicBezTo>
                    <a:pt x="0" y="14546"/>
                    <a:pt x="14546" y="0"/>
                    <a:pt x="32490" y="0"/>
                  </a:cubicBezTo>
                  <a:close/>
                </a:path>
              </a:pathLst>
            </a:custGeom>
            <a:solidFill>
              <a:srgbClr val="0097B2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516128" cy="1867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879994" y="2151468"/>
            <a:ext cx="9574907" cy="6839219"/>
          </a:xfrm>
          <a:custGeom>
            <a:avLst/>
            <a:gdLst/>
            <a:ahLst/>
            <a:cxnLst/>
            <a:rect r="r" b="b" t="t" l="l"/>
            <a:pathLst>
              <a:path h="6839219" w="9574907">
                <a:moveTo>
                  <a:pt x="0" y="0"/>
                </a:moveTo>
                <a:lnTo>
                  <a:pt x="9574907" y="0"/>
                </a:lnTo>
                <a:lnTo>
                  <a:pt x="9574907" y="6839220"/>
                </a:lnTo>
                <a:lnTo>
                  <a:pt x="0" y="68392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123950"/>
            <a:ext cx="6948877" cy="1581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b="true" sz="6000" spc="-48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</a:t>
            </a:r>
            <a:r>
              <a:rPr lang="en-US" b="true" sz="6000" spc="-48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al dato al modello (pipeline)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461095"/>
            <a:ext cx="4275147" cy="1558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  <a:spcBef>
                <a:spcPct val="0"/>
              </a:spcBef>
            </a:pPr>
            <a:r>
              <a:rPr lang="en-US" b="true" sz="2099" spc="-16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Il 73.7% dei cicli totali nel database registra un picco di dolore</a:t>
            </a:r>
          </a:p>
          <a:p>
            <a:pPr algn="l">
              <a:lnSpc>
                <a:spcPts val="2099"/>
              </a:lnSpc>
              <a:spcBef>
                <a:spcPct val="0"/>
              </a:spcBef>
            </a:pPr>
            <a:r>
              <a:rPr lang="en-US" b="true" sz="2099" spc="-16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severo (≥ 7). Il dolore acuto è quindi una costante cronica di questa popolazione e non può fare da</a:t>
            </a:r>
          </a:p>
          <a:p>
            <a:pPr algn="l">
              <a:lnSpc>
                <a:spcPts val="2099"/>
              </a:lnSpc>
              <a:spcBef>
                <a:spcPct val="0"/>
              </a:spcBef>
            </a:pPr>
            <a:r>
              <a:rPr lang="en-US" b="true" sz="2099" spc="-16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solo screening isolato.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3"/>
            <a:stretch>
              <a:fillRect l="-11711" t="-2752" r="-12482" b="-269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482369" y="2838635"/>
            <a:ext cx="10077371" cy="4624385"/>
            <a:chOff x="0" y="0"/>
            <a:chExt cx="2533567" cy="11626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33567" cy="1162624"/>
            </a:xfrm>
            <a:custGeom>
              <a:avLst/>
              <a:gdLst/>
              <a:ahLst/>
              <a:cxnLst/>
              <a:rect r="r" b="b" t="t" l="l"/>
              <a:pathLst>
                <a:path h="1162624" w="2533567">
                  <a:moveTo>
                    <a:pt x="32266" y="0"/>
                  </a:moveTo>
                  <a:lnTo>
                    <a:pt x="2501301" y="0"/>
                  </a:lnTo>
                  <a:cubicBezTo>
                    <a:pt x="2509858" y="0"/>
                    <a:pt x="2518065" y="3399"/>
                    <a:pt x="2524116" y="9451"/>
                  </a:cubicBezTo>
                  <a:cubicBezTo>
                    <a:pt x="2530168" y="15502"/>
                    <a:pt x="2533567" y="23709"/>
                    <a:pt x="2533567" y="32266"/>
                  </a:cubicBezTo>
                  <a:lnTo>
                    <a:pt x="2533567" y="1130357"/>
                  </a:lnTo>
                  <a:cubicBezTo>
                    <a:pt x="2533567" y="1138915"/>
                    <a:pt x="2530168" y="1147122"/>
                    <a:pt x="2524116" y="1153173"/>
                  </a:cubicBezTo>
                  <a:cubicBezTo>
                    <a:pt x="2518065" y="1159224"/>
                    <a:pt x="2509858" y="1162624"/>
                    <a:pt x="2501301" y="1162624"/>
                  </a:cubicBezTo>
                  <a:lnTo>
                    <a:pt x="32266" y="1162624"/>
                  </a:lnTo>
                  <a:cubicBezTo>
                    <a:pt x="23709" y="1162624"/>
                    <a:pt x="15502" y="1159224"/>
                    <a:pt x="9451" y="1153173"/>
                  </a:cubicBezTo>
                  <a:cubicBezTo>
                    <a:pt x="3399" y="1147122"/>
                    <a:pt x="0" y="1138915"/>
                    <a:pt x="0" y="1130357"/>
                  </a:cubicBezTo>
                  <a:lnTo>
                    <a:pt x="0" y="32266"/>
                  </a:lnTo>
                  <a:cubicBezTo>
                    <a:pt x="0" y="23709"/>
                    <a:pt x="3399" y="15502"/>
                    <a:pt x="9451" y="9451"/>
                  </a:cubicBezTo>
                  <a:cubicBezTo>
                    <a:pt x="15502" y="3399"/>
                    <a:pt x="23709" y="0"/>
                    <a:pt x="32266" y="0"/>
                  </a:cubicBezTo>
                  <a:close/>
                </a:path>
              </a:pathLst>
            </a:custGeom>
            <a:solidFill>
              <a:srgbClr val="0097B2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533567" cy="11721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825231" y="3231334"/>
            <a:ext cx="9434069" cy="3824331"/>
          </a:xfrm>
          <a:custGeom>
            <a:avLst/>
            <a:gdLst/>
            <a:ahLst/>
            <a:cxnLst/>
            <a:rect r="r" b="b" t="t" l="l"/>
            <a:pathLst>
              <a:path h="3824331" w="9434069">
                <a:moveTo>
                  <a:pt x="0" y="0"/>
                </a:moveTo>
                <a:lnTo>
                  <a:pt x="9434069" y="0"/>
                </a:lnTo>
                <a:lnTo>
                  <a:pt x="9434069" y="3824332"/>
                </a:lnTo>
                <a:lnTo>
                  <a:pt x="0" y="38243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36813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504950"/>
            <a:ext cx="8115300" cy="81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b="true" sz="6000" spc="-48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modello Health index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1711" t="-2752" r="-12482" b="-269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58904" y="709178"/>
            <a:ext cx="8393683" cy="8549122"/>
          </a:xfrm>
          <a:custGeom>
            <a:avLst/>
            <a:gdLst/>
            <a:ahLst/>
            <a:cxnLst/>
            <a:rect r="r" b="b" t="t" l="l"/>
            <a:pathLst>
              <a:path h="8549122" w="8393683">
                <a:moveTo>
                  <a:pt x="0" y="0"/>
                </a:moveTo>
                <a:lnTo>
                  <a:pt x="8393683" y="0"/>
                </a:lnTo>
                <a:lnTo>
                  <a:pt x="8393683" y="8549122"/>
                </a:lnTo>
                <a:lnTo>
                  <a:pt x="0" y="85491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545024" y="2224142"/>
            <a:ext cx="6948877" cy="1581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b="true" sz="6000" spc="-48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cosa abbiamo scoperto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45024" y="3975100"/>
            <a:ext cx="6644077" cy="528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b="true" sz="1999" spc="5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L'instabilità è il primo segnale d’allarme: </a:t>
            </a:r>
            <a:r>
              <a:rPr lang="en-US" sz="1999" spc="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 la durata del ciclo varia vistosamente nei due mesi precedenti, questo è il fattore più potente in assoluto nell'anticipare un mese critico. 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b="true" sz="1999" spc="5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I sintomi "sentinella": </a:t>
            </a:r>
            <a:r>
              <a:rPr lang="en-US" sz="1999" spc="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 mal di testa frequenti e una stanchezza marcata nei giorni immediatamente precedenti alle mestruazioni (fase luteale) non sono fastidi isolati, ma veri e propri indicatori infiammatori che preannunciano anomalie o dolori severi nel ciclo successivo. 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b="true" sz="1999" spc="5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Il falso mito del sonno: </a:t>
            </a:r>
            <a:r>
              <a:rPr lang="en-US" sz="1999" spc="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Dormire male è una conseguenza del dolore nel momento in cui lo si prova, ma non è una causa né un fattore utile a prevedere il benessere del mese successivo.</a:t>
            </a:r>
          </a:p>
          <a:p>
            <a:pPr algn="l" marL="0" indent="0" lvl="0">
              <a:lnSpc>
                <a:spcPts val="2799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1711" t="-2752" r="-12482" b="-269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36611" y="624409"/>
            <a:ext cx="8364426" cy="9038181"/>
          </a:xfrm>
          <a:custGeom>
            <a:avLst/>
            <a:gdLst/>
            <a:ahLst/>
            <a:cxnLst/>
            <a:rect r="r" b="b" t="t" l="l"/>
            <a:pathLst>
              <a:path h="9038181" w="8364426">
                <a:moveTo>
                  <a:pt x="0" y="0"/>
                </a:moveTo>
                <a:lnTo>
                  <a:pt x="8364426" y="0"/>
                </a:lnTo>
                <a:lnTo>
                  <a:pt x="8364426" y="9038182"/>
                </a:lnTo>
                <a:lnTo>
                  <a:pt x="0" y="90381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8174029" y="2166705"/>
            <a:ext cx="7616099" cy="5599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4971" indent="-247485" lvl="1">
              <a:lnSpc>
                <a:spcPts val="3209"/>
              </a:lnSpc>
              <a:buFont typeface="Arial"/>
              <a:buChar char="•"/>
            </a:pPr>
            <a:r>
              <a:rPr lang="en-US" b="true" sz="2292" spc="6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La soglia del dolore non è uguale per tutte:</a:t>
            </a:r>
            <a:r>
              <a:rPr lang="en-US" sz="2292" spc="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Il sistema ha confermato che un'anomalia non è un valore assoluto. Per un'utente un picco di dolore pari a 7 su 10 è un evento eccezionale da segnalare, per un'altra (ad esempio affetta da endometriosi) può rientrare nella norma. L'algoritmo ha imparato a calibrare l'allerta sulla "normalità storica" di ogni singola persona.</a:t>
            </a:r>
          </a:p>
          <a:p>
            <a:pPr algn="l" marL="494971" indent="-247485" lvl="1">
              <a:lnSpc>
                <a:spcPts val="3209"/>
              </a:lnSpc>
              <a:buFont typeface="Arial"/>
              <a:buChar char="•"/>
            </a:pPr>
            <a:r>
              <a:rPr lang="en-US" b="true" sz="2292" spc="6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Le anomalie di durata non sono casuali: </a:t>
            </a:r>
            <a:r>
              <a:rPr lang="en-US" sz="2292" spc="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Un prolungamento o un accorciamento improvviso del ciclo di oltre 6 giorni è quasi sempre correlato a picchi di stress acuto, cambi di stile di vita o squilibri ormonali transitori tracciati nei giorni precedenti.</a:t>
            </a:r>
          </a:p>
          <a:p>
            <a:pPr algn="l" marL="0" indent="0" lvl="0">
              <a:lnSpc>
                <a:spcPts val="3209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1711" t="-2752" r="-12482" b="-269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20471" y="1181100"/>
            <a:ext cx="13351858" cy="8229600"/>
          </a:xfrm>
          <a:custGeom>
            <a:avLst/>
            <a:gdLst/>
            <a:ahLst/>
            <a:cxnLst/>
            <a:rect r="r" b="b" t="t" l="l"/>
            <a:pathLst>
              <a:path h="8229600" w="13351858">
                <a:moveTo>
                  <a:pt x="0" y="0"/>
                </a:moveTo>
                <a:lnTo>
                  <a:pt x="13351858" y="0"/>
                </a:lnTo>
                <a:lnTo>
                  <a:pt x="1335185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5308761" y="3083554"/>
            <a:ext cx="7643289" cy="81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b="true" sz="6000" spc="-48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Output finale per Kaira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35951" y="4168882"/>
            <a:ext cx="7616099" cy="4399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9"/>
              </a:lnSpc>
            </a:pPr>
            <a:r>
              <a:rPr lang="en-US" sz="2292" spc="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Alla luce dei risultati straordinari del progetto, ci sembra un'opportunità per l'azienda sviluppare un </a:t>
            </a:r>
            <a:r>
              <a:rPr lang="en-US" b="true" sz="2292" spc="6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assistente virtuale predittivo</a:t>
            </a:r>
            <a:r>
              <a:rPr lang="en-US" sz="2292" spc="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per la salute femminile.</a:t>
            </a:r>
          </a:p>
          <a:p>
            <a:pPr algn="ctr">
              <a:lnSpc>
                <a:spcPts val="3209"/>
              </a:lnSpc>
            </a:pPr>
            <a:r>
              <a:rPr lang="en-US" sz="2292" spc="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Non un semplice "period tracker", ma una piattaforma di prevenzione attiva capace di anticipare i </a:t>
            </a:r>
            <a:r>
              <a:rPr lang="en-US" b="true" sz="2292" spc="6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bisogni delle utenti </a:t>
            </a:r>
            <a:r>
              <a:rPr lang="en-US" sz="2292" spc="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 mettere la loro salute a tutto tondo al centro dell’attenzione.</a:t>
            </a:r>
          </a:p>
          <a:p>
            <a:pPr algn="ctr">
              <a:lnSpc>
                <a:spcPts val="3209"/>
              </a:lnSpc>
            </a:pPr>
          </a:p>
          <a:p>
            <a:pPr algn="ctr">
              <a:lnSpc>
                <a:spcPts val="3209"/>
              </a:lnSpc>
            </a:pPr>
            <a:r>
              <a:rPr lang="en-US" sz="2292" spc="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 possibilità di affiancare </a:t>
            </a:r>
            <a:r>
              <a:rPr lang="en-US" b="true" sz="2292" spc="6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device fisici </a:t>
            </a:r>
            <a:r>
              <a:rPr lang="en-US" sz="2292" spc="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che raccolgono dati fisiologici porterebbe il funzionamento dei modelli proposti al livello successivo.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1711" t="-2752" r="-12482" b="-269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09700" y="2994101"/>
            <a:ext cx="9679751" cy="3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41"/>
              </a:lnSpc>
            </a:pPr>
            <a:r>
              <a:rPr lang="en-US" sz="14935" spc="-373" b="true">
                <a:solidFill>
                  <a:srgbClr val="FFFAF3"/>
                </a:solidFill>
                <a:latin typeface="Roboto Bold"/>
                <a:ea typeface="Roboto Bold"/>
                <a:cs typeface="Roboto Bold"/>
                <a:sym typeface="Roboto Bold"/>
              </a:rPr>
              <a:t>Grazie per </a:t>
            </a:r>
          </a:p>
          <a:p>
            <a:pPr algn="l" marL="0" indent="0" lvl="0">
              <a:lnSpc>
                <a:spcPts val="13741"/>
              </a:lnSpc>
            </a:pPr>
            <a:r>
              <a:rPr lang="en-US" b="true" sz="14935" spc="-373">
                <a:solidFill>
                  <a:srgbClr val="FFFAF3"/>
                </a:solidFill>
                <a:latin typeface="Roboto Bold"/>
                <a:ea typeface="Roboto Bold"/>
                <a:cs typeface="Roboto Bold"/>
                <a:sym typeface="Roboto Bold"/>
              </a:rPr>
              <a:t>l’attenzione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787791" y="547615"/>
            <a:ext cx="9108208" cy="9191770"/>
          </a:xfrm>
          <a:custGeom>
            <a:avLst/>
            <a:gdLst/>
            <a:ahLst/>
            <a:cxnLst/>
            <a:rect r="r" b="b" t="t" l="l"/>
            <a:pathLst>
              <a:path h="9191770" w="9108208">
                <a:moveTo>
                  <a:pt x="0" y="0"/>
                </a:moveTo>
                <a:lnTo>
                  <a:pt x="9108208" y="0"/>
                </a:lnTo>
                <a:lnTo>
                  <a:pt x="9108208" y="9191770"/>
                </a:lnTo>
                <a:lnTo>
                  <a:pt x="0" y="91917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09700" y="1028700"/>
            <a:ext cx="686575" cy="686575"/>
          </a:xfrm>
          <a:custGeom>
            <a:avLst/>
            <a:gdLst/>
            <a:ahLst/>
            <a:cxnLst/>
            <a:rect r="r" b="b" t="t" l="l"/>
            <a:pathLst>
              <a:path h="686575" w="686575">
                <a:moveTo>
                  <a:pt x="0" y="0"/>
                </a:moveTo>
                <a:lnTo>
                  <a:pt x="686575" y="0"/>
                </a:lnTo>
                <a:lnTo>
                  <a:pt x="686575" y="686575"/>
                </a:lnTo>
                <a:lnTo>
                  <a:pt x="0" y="6865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DAHPQBr5-tc</dc:identifier>
  <dcterms:modified xsi:type="dcterms:W3CDTF">2011-08-01T06:04:30Z</dcterms:modified>
  <cp:revision>1</cp:revision>
  <dc:title>Pink and White Simple Hormonal Balance Presentation</dc:title>
</cp:coreProperties>
</file>